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Arial"/>
              </a:defRPr>
            </a:pPr>
            <a:r>
              <a:rPr sz="1400" b="0" i="0" u="none" strike="noStrike">
                <a:solidFill>
                  <a:srgbClr val="14213D"/>
                </a:solidFill>
                <a:latin typeface="Arial"/>
              </a:rPr>
              <a:t>Test accuracy (%)</a:t>
            </a:r>
          </a:p>
        </c:rich>
      </c:tx>
      <c:layout/>
      <c:overlay val="0"/>
    </c:title>
    <c:autoTitleDeleted val="0"/>
    <c:plotArea>
      <c:layout/>
      <c:barChart>
        <c:barDir val="col"/>
        <c:grouping val="clustered"/>
        <c:varyColors val="0"/>
        <c:ser>
          <c:idx val="0"/>
          <c:order val="0"/>
          <c:tx>
            <c:strRef>
              <c:f>Sheet1!$B$1</c:f>
              <c:strCache>
                <c:ptCount val="1"/>
                <c:pt idx="0">
                  <c:v>Round 1 (6,000 per label)</c:v>
                </c:pt>
              </c:strCache>
            </c:strRef>
          </c:tx>
          <c:spPr>
            <a:solidFill>
              <a:srgbClr val="9B9A95"/>
            </a:solidFill>
            <a:effectLst/>
          </c:spPr>
          <c:invertIfNegative val="0"/>
          <c:dLbls>
            <c:numFmt formatCode="0.0&quot;%&quot;"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Sentiment</c:v>
                  </c:pt>
                  <c:pt idx="1">
                    <c:v>Guest segment</c:v>
                  </c:pt>
                </c:lvl>
              </c:multiLvlStrCache>
            </c:multiLvlStrRef>
          </c:cat>
          <c:val>
            <c:numRef>
              <c:f>Sheet1!$B$2:$B$3</c:f>
              <c:numCache>
                <c:formatCode>General</c:formatCode>
                <c:ptCount val="2"/>
                <c:pt idx="0">
                  <c:v>72.7</c:v>
                </c:pt>
                <c:pt idx="1">
                  <c:v>55.8</c:v>
                </c:pt>
              </c:numCache>
            </c:numRef>
          </c:val>
        </c:ser>
        <c:ser>
          <c:idx val="1"/>
          <c:order val="1"/>
          <c:tx>
            <c:strRef>
              <c:f>Sheet1!$C$1</c:f>
              <c:strCache>
                <c:ptCount val="1"/>
                <c:pt idx="0">
                  <c:v>Round 2 (15,000 per label)</c:v>
                </c:pt>
              </c:strCache>
            </c:strRef>
          </c:tx>
          <c:spPr>
            <a:solidFill>
              <a:srgbClr val="E36414"/>
            </a:solidFill>
            <a:effectLst/>
          </c:spPr>
          <c:invertIfNegative val="0"/>
          <c:dLbls>
            <c:numFmt formatCode="0.0&quot;%&quot;"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Sentiment</c:v>
                  </c:pt>
                  <c:pt idx="1">
                    <c:v>Guest segment</c:v>
                  </c:pt>
                </c:lvl>
              </c:multiLvlStrCache>
            </c:multiLvlStrRef>
          </c:cat>
          <c:val>
            <c:numRef>
              <c:f>Sheet1!$C$2:$C$3</c:f>
              <c:numCache>
                <c:formatCode>General</c:formatCode>
                <c:ptCount val="2"/>
                <c:pt idx="0">
                  <c:v>75</c:v>
                </c:pt>
                <c:pt idx="1">
                  <c:v>72.1</c:v>
                </c:pt>
              </c:numCache>
            </c:numRef>
          </c:val>
        </c:ser>
        <c:dLbls>
          <c:numFmt formatCode="0.0&quot;%&quot;"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3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Arial"/>
              </a:defRPr>
            </a:pPr>
            <a:r>
              <a:rPr sz="1400" b="0" i="0" u="none" strike="noStrike">
                <a:solidFill>
                  <a:srgbClr val="14213D"/>
                </a:solidFill>
                <a:latin typeface="Arial"/>
              </a:rPr>
              <a:t>Test accuracy (%)</a:t>
            </a:r>
          </a:p>
        </c:rich>
      </c:tx>
      <c:layout/>
      <c:overlay val="0"/>
    </c:title>
    <c:autoTitleDeleted val="0"/>
    <c:plotArea>
      <c:layout/>
      <c:barChart>
        <c:barDir val="col"/>
        <c:grouping val="clustered"/>
        <c:varyColors val="0"/>
        <c:ser>
          <c:idx val="0"/>
          <c:order val="0"/>
          <c:tx>
            <c:strRef>
              <c:f>Sheet1!$B$1</c:f>
              <c:strCache>
                <c:ptCount val="1"/>
                <c:pt idx="0">
                  <c:v>Pre-trained, no fine-tuning</c:v>
                </c:pt>
              </c:strCache>
            </c:strRef>
          </c:tx>
          <c:spPr>
            <a:solidFill>
              <a:srgbClr val="9B9A95"/>
            </a:solidFill>
            <a:effectLst/>
          </c:spPr>
          <c:invertIfNegative val="0"/>
          <c:dLbls>
            <c:numFmt formatCode="0.0&quot;%&quot;"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Sentiment</c:v>
                  </c:pt>
                  <c:pt idx="1">
                    <c:v>Guest segment</c:v>
                  </c:pt>
                </c:lvl>
              </c:multiLvlStrCache>
            </c:multiLvlStrRef>
          </c:cat>
          <c:val>
            <c:numRef>
              <c:f>Sheet1!$B$2:$B$3</c:f>
              <c:numCache>
                <c:formatCode>General</c:formatCode>
                <c:ptCount val="2"/>
                <c:pt idx="0">
                  <c:v>62.8</c:v>
                </c:pt>
                <c:pt idx="1">
                  <c:v>55.4</c:v>
                </c:pt>
              </c:numCache>
            </c:numRef>
          </c:val>
        </c:ser>
        <c:ser>
          <c:idx val="1"/>
          <c:order val="1"/>
          <c:tx>
            <c:strRef>
              <c:f>Sheet1!$C$1</c:f>
              <c:strCache>
                <c:ptCount val="1"/>
                <c:pt idx="0">
                  <c:v>Our fine-tuned DistilBERT</c:v>
                </c:pt>
              </c:strCache>
            </c:strRef>
          </c:tx>
          <c:spPr>
            <a:solidFill>
              <a:srgbClr val="E36414"/>
            </a:solidFill>
            <a:effectLst/>
          </c:spPr>
          <c:invertIfNegative val="0"/>
          <c:dLbls>
            <c:numFmt formatCode="0.0&quot;%&quot;"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Sentiment</c:v>
                  </c:pt>
                  <c:pt idx="1">
                    <c:v>Guest segment</c:v>
                  </c:pt>
                </c:lvl>
              </c:multiLvlStrCache>
            </c:multiLvlStrRef>
          </c:cat>
          <c:val>
            <c:numRef>
              <c:f>Sheet1!$C$2:$C$3</c:f>
              <c:numCache>
                <c:formatCode>General</c:formatCode>
                <c:ptCount val="2"/>
                <c:pt idx="0">
                  <c:v>75</c:v>
                </c:pt>
                <c:pt idx="1">
                  <c:v>72.1</c:v>
                </c:pt>
              </c:numCache>
            </c:numRef>
          </c:val>
        </c:ser>
        <c:dLbls>
          <c:numFmt formatCode="0.0&quot;%&quot;"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3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 Zhiyong] Hello everyone. We are Ou Zhiyong and Zhang Ludan from Group 6, and our project is called Review Intelligence for Hotel Revenue Management. We built it for Oriental Horizon Hotel Business, the hotel company one of us works for. In the next ten minutes we will show how two fine-tuned deep-learning models turn guest reviews into signals that help the hotel set its room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 Zhiyong] Oriental Horizon prices its rooms with a revenue management system. The system works with numbers: occupancy, booking pace, competitor rates and seasonality. But guest reviews also tell us what guests are willing to pay, and they are written in free text, so the system ignores them. A revenue manager would like to answer two questions: first, is our reputation strong enough to charge more than our competitors? Second, are our guests mostly business or leisure travellers, because the two groups react very differently to price. Nobody can read thousands of reviews by hand, so we used deep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 Zhiyong] Our solution has two Hugging Face text-classification pipelines. Pipeline one reads each review and labels it negative, neutral or positive. From these labels we compute a Net Reputation Score, which is the share of positive reviews minus the share of negative reviews. If our score is above the competitors' score, the app suggests a small price premium of one percent for every ten points, capped at five percent. Pipeline two labels each review as written by a business or a leisure guest. The segment mix tells the revenue manager which pricing actions to use, for example weekday rates for business guests and weekend packages for leisure guests.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 Zhiyong] Our hotel's own reviews are confidential, so we used a public dataset of 515,000 Booking.com reviews from European hotels as a stand-in. The nice thing is that the labels already exist in the data. The reviewer score gives the sentiment: below 5.5 is negative, 6.5 to 7.9 is neutral, and 9 or above is positive. We left out the scores in between because they are ambiguous. The trip tags tell us whether the guest was on a business or a leisure trip. We joined the liked and disliked parts of each review, removed placeholders and duplicates, and drew a balanced sample of 15,000 reviews per label. That gives 45,000 reviews for sentiment and 30,000 for the guest segment, split 80, 10 and 10 percent into training, validation and test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 Zhiyong] Each of us fine-tuned one model. I, Zhiyong, fine-tuned the sentiment model, and Ludan fine-tuned the guest-segment model. For both tasks we compared two small pre-trained models from Hugging Face, DistilBERT and DistilRoBERTa. They are distilled versions of BERT, so they keep most of BERT's accuracy but are fast enough to run on Streamlit's CPU. We also tested two larger models without any fine-tuning as baselines. Training ran on a free Colab GPU: two epochs, learning rate 3e-5, batch size 32 and a maximum of 256 tokens per review. We kept the epoch with the best validation macro-F1. I will now hand over to Ludan for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Thank you. We did not get here on the first try. In round one we used 6,000 reviews per label and three guest segments: business, couple and family. The sentiment model reached 72.7 percent, but the segment model reached only 55.8 percent. One family review in three was mistaken for a couple, because most reviews never mention who the guest travelled with. So in round two we changed the question: business versus leisure, which is also the most important split in hotel revenue management. We also used two and a half times more data. Sentiment accuracy rose to 75 percent, and the segment model reached 72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Our first experiment compares the models on held-out test reviews: 4,500 for sentiment and 3,000 for the segment. Fine-tuning made a big difference. For sentiment, accuracy went from 62.8 percent with a ready-made model to 75 percent with our model, a gain of 12 points. For the guest segment, the zero-shot BART model reached only 55 percent, and our model reached 72 percent, a gain of 17 points. Our model is also about 20 times faster on a CPU. The two fine-tuned candidates were practically tied, within one point, so following our rule we chose the smaller DistilBERT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Here we look at where the models go wrong. On the left, the sentiment model: almost all errors are one step away, for example neutral versus positive. Positive and negative are confused in only 1.4 percent of reviews, so the reputation score is reliable. On the right, the segment model: errors are balanced in both directions, so it does not favour business or leisure. Many remaining errors are reviews that simply do not say why the guest travelled, like "Room was comfortable and location was good." Even a human could not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This is our app on Streamlit Cloud. The revenue manager pastes reviews, uploads a file, or takes a random sample. Both pipelines classify every review in a few seconds. The app then shows the Net Reputation Score compared with competitors, a suggested rate change, and the new base rate. In this example we used test reviews, which are balanced on purpose, so the score is low and the app suggests a small discount. Below, the pricing actions explain what to do for each guest segment, for example weekday rates for business travellers and packages instead of discounts for leisure guests. Results can be downloaded for the pricing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Our second experiment measures the accuracy of the deployed app. The app has an accuracy-check tab that runs both models on 300 labelled test reviews directly on Streamlit Cloud. Sentiment reached 73.3 percent and the guest segment 74.3 percent. These are exactly the same numbers we got in our Colab notebook with the same reviews, which proves the app runs the same models our notebooks produced. They are also within the normal sampling margin of the full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How can Oriental Horizon use this? First, collect reviews every week from our booking channels, for our hotel and three to five competitors. Second, feed the pricing system two indicators: a reputation index compared with competitors, and the business-leisure mix by day of week. Third, keep the revenue manager in control: changes stay within the five percent cap and are approved by a person. Fourth, retrain the models on our own reviews, many of which are in Chinese, using a multilingual model and the same notebooks. Finally, check accuracy every quarter and compare the suggestions with revenue per available room. One limitation: our models were trained on English reviews of European hotels, and some labels are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Ludan] To conclude: our sentiment model reaches 75 percent accuracy and almost never confuses positive with negative reviews, so it gives a reliable reputation signal. Our segment model reaches 72 percent, which is good enough to estimate the business-leisure mix across many reviews. Fine-tuning added 12 and 17 accuracy points compared with ready-made models, and runs much faster. Together they turn guest reviews into inputs Oriental Horizon's pricing system can use. The app and models are online at the links shown. Thank you,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412480" y="4206240"/>
            <a:ext cx="5943600" cy="5943600"/>
          </a:xfrm>
          <a:prstGeom prst="ellipse">
            <a:avLst/>
          </a:prstGeom>
          <a:solidFill>
            <a:srgbClr val="E36414">
              <a:alpha val="85000"/>
            </a:srgbClr>
          </a:solidFill>
          <a:ln w="12700">
            <a:solidFill>
              <a:srgbClr val="E36414">
                <a:alpha val="85000"/>
              </a:srgbClr>
            </a:solidFill>
            <a:prstDash val="solid"/>
          </a:ln>
        </p:spPr>
      </p:sp>
      <p:sp>
        <p:nvSpPr>
          <p:cNvPr id="3" name="Shape 1"/>
          <p:cNvSpPr/>
          <p:nvPr/>
        </p:nvSpPr>
        <p:spPr>
          <a:xfrm>
            <a:off x="0" y="6035040"/>
            <a:ext cx="12188952" cy="822960"/>
          </a:xfrm>
          <a:prstGeom prst="rect">
            <a:avLst/>
          </a:prstGeom>
          <a:solidFill>
            <a:srgbClr val="14213D"/>
          </a:solidFill>
          <a:ln w="12700">
            <a:solidFill>
              <a:srgbClr val="14213D"/>
            </a:solidFill>
            <a:prstDash val="solid"/>
          </a:ln>
        </p:spPr>
      </p:sp>
      <p:sp>
        <p:nvSpPr>
          <p:cNvPr id="4" name="Shape 2"/>
          <p:cNvSpPr/>
          <p:nvPr/>
        </p:nvSpPr>
        <p:spPr>
          <a:xfrm>
            <a:off x="640080" y="731520"/>
            <a:ext cx="731520" cy="731520"/>
          </a:xfrm>
          <a:prstGeom prst="ellipse">
            <a:avLst/>
          </a:prstGeom>
          <a:solidFill>
            <a:srgbClr val="E36414"/>
          </a:solidFill>
          <a:ln w="12700">
            <a:solidFill>
              <a:srgbClr val="E36414"/>
            </a:solidFill>
            <a:prstDash val="solid"/>
          </a:ln>
        </p:spPr>
      </p:sp>
      <p:pic>
        <p:nvPicPr>
          <p:cNvPr id="5" name="Image 0" descr="preencoded.png">    </p:cNvPr>
          <p:cNvPicPr>
            <a:picLocks noChangeAspect="1"/>
          </p:cNvPicPr>
          <p:nvPr/>
        </p:nvPicPr>
        <p:blipFill>
          <a:blip r:embed="rId1"/>
          <a:stretch>
            <a:fillRect/>
          </a:stretch>
        </p:blipFill>
        <p:spPr>
          <a:xfrm>
            <a:off x="801014" y="892454"/>
            <a:ext cx="409651" cy="409651"/>
          </a:xfrm>
          <a:prstGeom prst="rect">
            <a:avLst/>
          </a:prstGeom>
        </p:spPr>
      </p:pic>
      <p:sp>
        <p:nvSpPr>
          <p:cNvPr id="6" name="Text 3"/>
          <p:cNvSpPr txBox="1"/>
          <p:nvPr/>
        </p:nvSpPr>
        <p:spPr>
          <a:xfrm>
            <a:off x="1554480" y="822960"/>
            <a:ext cx="7315200" cy="548640"/>
          </a:xfrm>
          <a:prstGeom prst="rect">
            <a:avLst/>
          </a:prstGeom>
          <a:noFill/>
          <a:ln/>
        </p:spPr>
        <p:txBody>
          <a:bodyPr wrap="square" lIns="0" tIns="0" rIns="0" bIns="0" rtlCol="0" anchor="ctr"/>
          <a:lstStyle/>
          <a:p>
            <a:pPr indent="0" marL="0">
              <a:buNone/>
            </a:pPr>
            <a:r>
              <a:rPr lang="en-US" sz="1800" dirty="0">
                <a:solidFill>
                  <a:srgbClr val="C9D3E3"/>
                </a:solidFill>
                <a:latin typeface="Calibri" pitchFamily="34" charset="0"/>
                <a:ea typeface="Calibri" pitchFamily="34" charset="-122"/>
                <a:cs typeface="Calibri" pitchFamily="34" charset="-120"/>
              </a:rPr>
              <a:t>Oriental Horizon Hotel Business</a:t>
            </a:r>
            <a:endParaRPr lang="en-US" sz="1800" dirty="0"/>
          </a:p>
        </p:txBody>
      </p:sp>
      <p:sp>
        <p:nvSpPr>
          <p:cNvPr id="7" name="Text 4"/>
          <p:cNvSpPr txBox="1"/>
          <p:nvPr/>
        </p:nvSpPr>
        <p:spPr>
          <a:xfrm>
            <a:off x="640080" y="1737360"/>
            <a:ext cx="9601200" cy="1920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Review Intelligence for</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Hotel Revenue Management</a:t>
            </a:r>
            <a:endParaRPr lang="en-US" sz="4400" dirty="0"/>
          </a:p>
        </p:txBody>
      </p:sp>
      <p:sp>
        <p:nvSpPr>
          <p:cNvPr id="8" name="Text 5"/>
          <p:cNvSpPr txBox="1"/>
          <p:nvPr/>
        </p:nvSpPr>
        <p:spPr>
          <a:xfrm>
            <a:off x="640080" y="3886200"/>
            <a:ext cx="7863840" cy="548640"/>
          </a:xfrm>
          <a:prstGeom prst="rect">
            <a:avLst/>
          </a:prstGeom>
          <a:noFill/>
          <a:ln/>
        </p:spPr>
        <p:txBody>
          <a:bodyPr wrap="square" lIns="0" tIns="0" rIns="0" bIns="0" rtlCol="0" anchor="ctr"/>
          <a:lstStyle/>
          <a:p>
            <a:pPr indent="0" marL="0">
              <a:buNone/>
            </a:pPr>
            <a:r>
              <a:rPr lang="en-US" sz="1800" i="1" dirty="0">
                <a:solidFill>
                  <a:srgbClr val="C9D3E3"/>
                </a:solidFill>
                <a:latin typeface="Calibri" pitchFamily="34" charset="0"/>
                <a:ea typeface="Calibri" pitchFamily="34" charset="-122"/>
                <a:cs typeface="Calibri" pitchFamily="34" charset="-120"/>
              </a:rPr>
              <a:t>Fine-tuned deep-learning models that turn guest reviews into room-pricing signals</a:t>
            </a:r>
            <a:endParaRPr lang="en-US" sz="1800" dirty="0"/>
          </a:p>
        </p:txBody>
      </p:sp>
      <p:sp>
        <p:nvSpPr>
          <p:cNvPr id="9" name="Text 6"/>
          <p:cNvSpPr txBox="1"/>
          <p:nvPr/>
        </p:nvSpPr>
        <p:spPr>
          <a:xfrm>
            <a:off x="640080" y="6172200"/>
            <a:ext cx="10058400" cy="411480"/>
          </a:xfrm>
          <a:prstGeom prst="rect">
            <a:avLst/>
          </a:prstGeom>
          <a:noFill/>
          <a:ln/>
        </p:spPr>
        <p:txBody>
          <a:bodyPr wrap="square" lIns="0" tIns="0" rIns="0" bIns="0" rtlCol="0" anchor="ctr"/>
          <a:lstStyle/>
          <a:p>
            <a:pPr indent="0" marL="0">
              <a:buNone/>
            </a:pPr>
            <a:r>
              <a:rPr lang="en-US" sz="1400" dirty="0">
                <a:solidFill>
                  <a:srgbClr val="C9D3E3"/>
                </a:solidFill>
                <a:latin typeface="Calibri" pitchFamily="34" charset="0"/>
                <a:ea typeface="Calibri" pitchFamily="34" charset="-122"/>
                <a:cs typeface="Calibri" pitchFamily="34" charset="-120"/>
              </a:rPr>
              <a:t>ISOM5240 Group Project · Group 6 · Ou Zhiyong (A0018498R) · Zhang Ludan (A0309855R)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pricing system cannot read reviews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Our revenue management system (RMS) only uses numbers — but guests write words</a:t>
            </a:r>
            <a:endParaRPr lang="en-US" sz="1600" dirty="0"/>
          </a:p>
        </p:txBody>
      </p:sp>
      <p:sp>
        <p:nvSpPr>
          <p:cNvPr id="4" name="Shape 2"/>
          <p:cNvSpPr/>
          <p:nvPr/>
        </p:nvSpPr>
        <p:spPr>
          <a:xfrm>
            <a:off x="548640" y="1737360"/>
            <a:ext cx="5394960" cy="4206240"/>
          </a:xfrm>
          <a:prstGeom prst="roundRect">
            <a:avLst>
              <a:gd name="adj" fmla="val 2609"/>
            </a:avLst>
          </a:prstGeom>
          <a:solidFill>
            <a:srgbClr val="F2F5F9"/>
          </a:solidFill>
          <a:ln w="12700">
            <a:solidFill>
              <a:srgbClr val="F2F5F9"/>
            </a:solidFill>
            <a:prstDash val="solid"/>
          </a:ln>
        </p:spPr>
      </p:sp>
      <p:sp>
        <p:nvSpPr>
          <p:cNvPr id="5" name="Shape 3"/>
          <p:cNvSpPr/>
          <p:nvPr/>
        </p:nvSpPr>
        <p:spPr>
          <a:xfrm>
            <a:off x="868680" y="2011680"/>
            <a:ext cx="566928" cy="566928"/>
          </a:xfrm>
          <a:prstGeom prst="ellipse">
            <a:avLst/>
          </a:prstGeom>
          <a:solidFill>
            <a:srgbClr val="E36414"/>
          </a:solidFill>
          <a:ln w="12700">
            <a:solidFill>
              <a:srgbClr val="E36414"/>
            </a:solidFill>
            <a:prstDash val="solid"/>
          </a:ln>
        </p:spPr>
      </p:sp>
      <p:pic>
        <p:nvPicPr>
          <p:cNvPr id="6" name="Image 0" descr="preencoded.png">    </p:cNvPr>
          <p:cNvPicPr>
            <a:picLocks noChangeAspect="1"/>
          </p:cNvPicPr>
          <p:nvPr/>
        </p:nvPicPr>
        <p:blipFill>
          <a:blip r:embed="rId1"/>
          <a:stretch>
            <a:fillRect/>
          </a:stretch>
        </p:blipFill>
        <p:spPr>
          <a:xfrm>
            <a:off x="993404" y="2136404"/>
            <a:ext cx="317480" cy="317480"/>
          </a:xfrm>
          <a:prstGeom prst="rect">
            <a:avLst/>
          </a:prstGeom>
        </p:spPr>
      </p:pic>
      <p:sp>
        <p:nvSpPr>
          <p:cNvPr id="7" name="Text 4"/>
          <p:cNvSpPr txBox="1"/>
          <p:nvPr/>
        </p:nvSpPr>
        <p:spPr>
          <a:xfrm>
            <a:off x="1600200" y="2057400"/>
            <a:ext cx="4114800" cy="45720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What the RMS uses today</a:t>
            </a:r>
            <a:endParaRPr lang="en-US" sz="2000" dirty="0"/>
          </a:p>
        </p:txBody>
      </p:sp>
      <p:sp>
        <p:nvSpPr>
          <p:cNvPr id="8" name="Text 5"/>
          <p:cNvSpPr txBox="1"/>
          <p:nvPr/>
        </p:nvSpPr>
        <p:spPr>
          <a:xfrm>
            <a:off x="914400" y="2743200"/>
            <a:ext cx="4754880" cy="16459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Occupancy and booking pace</a:t>
            </a:r>
            <a:endParaRPr lang="en-US" sz="1600" dirty="0"/>
          </a:p>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Competitor room rates</a:t>
            </a:r>
            <a:endParaRPr lang="en-US" sz="1600" dirty="0"/>
          </a:p>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Seasonality and events</a:t>
            </a:r>
            <a:endParaRPr lang="en-US" sz="1600" dirty="0"/>
          </a:p>
        </p:txBody>
      </p:sp>
      <p:sp>
        <p:nvSpPr>
          <p:cNvPr id="9" name="Text 6"/>
          <p:cNvSpPr txBox="1"/>
          <p:nvPr/>
        </p:nvSpPr>
        <p:spPr>
          <a:xfrm>
            <a:off x="914400" y="4937760"/>
            <a:ext cx="4754880" cy="548640"/>
          </a:xfrm>
          <a:prstGeom prst="rect">
            <a:avLst/>
          </a:prstGeom>
          <a:noFill/>
          <a:ln/>
        </p:spPr>
        <p:txBody>
          <a:bodyPr wrap="square" lIns="0" tIns="0" rIns="0" bIns="0" rtlCol="0" anchor="ctr"/>
          <a:lstStyle/>
          <a:p>
            <a:pPr indent="0" marL="0">
              <a:buNone/>
            </a:pPr>
            <a:r>
              <a:rPr lang="en-US" sz="1500" i="1" dirty="0">
                <a:solidFill>
                  <a:srgbClr val="5E6369"/>
                </a:solidFill>
                <a:latin typeface="Calibri" pitchFamily="34" charset="0"/>
                <a:ea typeface="Calibri" pitchFamily="34" charset="-122"/>
                <a:cs typeface="Calibri" pitchFamily="34" charset="-120"/>
              </a:rPr>
              <a:t>All numeric — easy for a model to use.</a:t>
            </a:r>
            <a:endParaRPr lang="en-US" sz="1500" dirty="0"/>
          </a:p>
        </p:txBody>
      </p:sp>
      <p:sp>
        <p:nvSpPr>
          <p:cNvPr id="10" name="Shape 7"/>
          <p:cNvSpPr/>
          <p:nvPr/>
        </p:nvSpPr>
        <p:spPr>
          <a:xfrm>
            <a:off x="6263640" y="1737360"/>
            <a:ext cx="5394960" cy="4206240"/>
          </a:xfrm>
          <a:prstGeom prst="roundRect">
            <a:avLst>
              <a:gd name="adj" fmla="val 2609"/>
            </a:avLst>
          </a:prstGeom>
          <a:solidFill>
            <a:srgbClr val="FCEFE7"/>
          </a:solidFill>
          <a:ln w="12700">
            <a:solidFill>
              <a:srgbClr val="FCEFE7"/>
            </a:solidFill>
            <a:prstDash val="solid"/>
          </a:ln>
        </p:spPr>
      </p:sp>
      <p:sp>
        <p:nvSpPr>
          <p:cNvPr id="11" name="Shape 8"/>
          <p:cNvSpPr/>
          <p:nvPr/>
        </p:nvSpPr>
        <p:spPr>
          <a:xfrm>
            <a:off x="6583680" y="2011680"/>
            <a:ext cx="566928" cy="566928"/>
          </a:xfrm>
          <a:prstGeom prst="ellipse">
            <a:avLst/>
          </a:prstGeom>
          <a:solidFill>
            <a:srgbClr val="E36414"/>
          </a:solidFill>
          <a:ln w="12700">
            <a:solidFill>
              <a:srgbClr val="E36414"/>
            </a:solidFill>
            <a:prstDash val="solid"/>
          </a:ln>
        </p:spPr>
      </p:sp>
      <p:pic>
        <p:nvPicPr>
          <p:cNvPr id="12" name="Image 1" descr="preencoded.png">    </p:cNvPr>
          <p:cNvPicPr>
            <a:picLocks noChangeAspect="1"/>
          </p:cNvPicPr>
          <p:nvPr/>
        </p:nvPicPr>
        <p:blipFill>
          <a:blip r:embed="rId2"/>
          <a:stretch>
            <a:fillRect/>
          </a:stretch>
        </p:blipFill>
        <p:spPr>
          <a:xfrm>
            <a:off x="6708404" y="2136404"/>
            <a:ext cx="317480" cy="317480"/>
          </a:xfrm>
          <a:prstGeom prst="rect">
            <a:avLst/>
          </a:prstGeom>
        </p:spPr>
      </p:pic>
      <p:sp>
        <p:nvSpPr>
          <p:cNvPr id="13" name="Text 9"/>
          <p:cNvSpPr txBox="1"/>
          <p:nvPr/>
        </p:nvSpPr>
        <p:spPr>
          <a:xfrm>
            <a:off x="7315200" y="2057400"/>
            <a:ext cx="4114800" cy="45720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What it misses</a:t>
            </a:r>
            <a:endParaRPr lang="en-US" sz="2000" dirty="0"/>
          </a:p>
        </p:txBody>
      </p:sp>
      <p:sp>
        <p:nvSpPr>
          <p:cNvPr id="14" name="Text 10"/>
          <p:cNvSpPr txBox="1"/>
          <p:nvPr/>
        </p:nvSpPr>
        <p:spPr>
          <a:xfrm>
            <a:off x="6629400" y="2743200"/>
            <a:ext cx="4754880" cy="201168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Thousands of free-text guest reviews</a:t>
            </a:r>
            <a:endParaRPr lang="en-US" sz="1600" dirty="0"/>
          </a:p>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Is our reputation strong enough to charge more than competitors?</a:t>
            </a:r>
            <a:endParaRPr lang="en-US" sz="1600" dirty="0"/>
          </a:p>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Are our guests mostly business or leisure travellers?</a:t>
            </a:r>
            <a:endParaRPr lang="en-US" sz="1600" dirty="0"/>
          </a:p>
        </p:txBody>
      </p:sp>
      <p:sp>
        <p:nvSpPr>
          <p:cNvPr id="15" name="Text 11"/>
          <p:cNvSpPr txBox="1"/>
          <p:nvPr/>
        </p:nvSpPr>
        <p:spPr>
          <a:xfrm>
            <a:off x="6629400" y="4937760"/>
            <a:ext cx="4754880" cy="640080"/>
          </a:xfrm>
          <a:prstGeom prst="rect">
            <a:avLst/>
          </a:prstGeom>
          <a:noFill/>
          <a:ln/>
        </p:spPr>
        <p:txBody>
          <a:bodyPr wrap="square" lIns="0" tIns="0" rIns="0" bIns="0" rtlCol="0" anchor="ctr"/>
          <a:lstStyle/>
          <a:p>
            <a:pPr indent="0" marL="0">
              <a:buNone/>
            </a:pPr>
            <a:r>
              <a:rPr lang="en-US" sz="1500" i="1" dirty="0">
                <a:solidFill>
                  <a:srgbClr val="E36414"/>
                </a:solidFill>
                <a:latin typeface="Calibri" pitchFamily="34" charset="0"/>
                <a:ea typeface="Calibri" pitchFamily="34" charset="-122"/>
                <a:cs typeface="Calibri" pitchFamily="34" charset="-120"/>
              </a:rPr>
              <a:t>Two questions a revenue manager cannot answer by reading every review.</a:t>
            </a:r>
            <a:endParaRPr lang="en-US" sz="1500" dirty="0"/>
          </a:p>
        </p:txBody>
      </p:sp>
      <p:sp>
        <p:nvSpPr>
          <p:cNvPr id="16" name="Text 12"/>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Our solution: two fine-tuned pipelines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Objective: turn guest reviews into a reputation signal and a demand-mix signal for the RMS</a:t>
            </a:r>
            <a:endParaRPr lang="en-US" sz="1600" dirty="0"/>
          </a:p>
        </p:txBody>
      </p:sp>
      <p:pic>
        <p:nvPicPr>
          <p:cNvPr id="4" name="Image 0" descr="/tmp/claude-0/-home-user-MBA/c563babd-45d2-5f6a-9e16-5c2da7b096e7/scratchpad/report/fig/fig1_pipeline.png">    </p:cNvPr>
          <p:cNvPicPr>
            <a:picLocks noChangeAspect="1"/>
          </p:cNvPicPr>
          <p:nvPr/>
        </p:nvPicPr>
        <p:blipFill>
          <a:blip r:embed="rId1"/>
          <a:stretch>
            <a:fillRect/>
          </a:stretch>
        </p:blipFill>
        <p:spPr>
          <a:xfrm>
            <a:off x="822960" y="1600200"/>
            <a:ext cx="10515600" cy="3931920"/>
          </a:xfrm>
          <a:prstGeom prst="rect">
            <a:avLst/>
          </a:prstGeom>
        </p:spPr>
      </p:pic>
      <p:sp>
        <p:nvSpPr>
          <p:cNvPr id="5" name="Text 2"/>
          <p:cNvSpPr txBox="1"/>
          <p:nvPr/>
        </p:nvSpPr>
        <p:spPr>
          <a:xfrm>
            <a:off x="822960" y="5669280"/>
            <a:ext cx="10515600" cy="5486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Net Reputation Score</a:t>
            </a:r>
            <a:pPr indent="0" marL="0">
              <a:buNone/>
            </a:pPr>
            <a:r>
              <a:rPr lang="en-US" sz="1500" dirty="0">
                <a:solidFill>
                  <a:srgbClr val="1F2328"/>
                </a:solidFill>
                <a:latin typeface="Calibri" pitchFamily="34" charset="0"/>
                <a:ea typeface="Calibri" pitchFamily="34" charset="-122"/>
                <a:cs typeface="Calibri" pitchFamily="34" charset="-120"/>
              </a:rPr>
              <a:t> = % positive − % negative reviews.  Each 10 points above competitors → +1% on the base rate (capped at ±5%).</a:t>
            </a:r>
            <a:endParaRPr lang="en-US" sz="1500" dirty="0"/>
          </a:p>
        </p:txBody>
      </p:sp>
      <p:sp>
        <p:nvSpPr>
          <p:cNvPr id="6" name="Text 3"/>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Data: 515,000 real reviews, labelled for free</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Public Booking.com reviews (Kaggle) as a stand-in for confidential hotel data</a:t>
            </a:r>
            <a:endParaRPr lang="en-US" sz="1600" dirty="0"/>
          </a:p>
        </p:txBody>
      </p:sp>
      <p:sp>
        <p:nvSpPr>
          <p:cNvPr id="4" name="Text 2"/>
          <p:cNvSpPr txBox="1"/>
          <p:nvPr/>
        </p:nvSpPr>
        <p:spPr>
          <a:xfrm>
            <a:off x="640080" y="1737360"/>
            <a:ext cx="329184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515K</a:t>
            </a:r>
            <a:endParaRPr lang="en-US" sz="4800" dirty="0"/>
          </a:p>
        </p:txBody>
      </p:sp>
      <p:sp>
        <p:nvSpPr>
          <p:cNvPr id="5" name="Text 3"/>
          <p:cNvSpPr txBox="1"/>
          <p:nvPr/>
        </p:nvSpPr>
        <p:spPr>
          <a:xfrm>
            <a:off x="640080" y="2606040"/>
            <a:ext cx="329184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Booking.com reviews of European hotels</a:t>
            </a:r>
            <a:endParaRPr lang="en-US" sz="1400" dirty="0"/>
          </a:p>
        </p:txBody>
      </p:sp>
      <p:sp>
        <p:nvSpPr>
          <p:cNvPr id="6" name="Text 4"/>
          <p:cNvSpPr txBox="1"/>
          <p:nvPr/>
        </p:nvSpPr>
        <p:spPr>
          <a:xfrm>
            <a:off x="4206240" y="1737360"/>
            <a:ext cx="329184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45,000</a:t>
            </a:r>
            <a:endParaRPr lang="en-US" sz="4800" dirty="0"/>
          </a:p>
        </p:txBody>
      </p:sp>
      <p:sp>
        <p:nvSpPr>
          <p:cNvPr id="7" name="Text 5"/>
          <p:cNvSpPr txBox="1"/>
          <p:nvPr/>
        </p:nvSpPr>
        <p:spPr>
          <a:xfrm>
            <a:off x="4206240" y="2606040"/>
            <a:ext cx="329184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balanced reviews for the sentiment model</a:t>
            </a:r>
            <a:endParaRPr lang="en-US" sz="1400" dirty="0"/>
          </a:p>
        </p:txBody>
      </p:sp>
      <p:sp>
        <p:nvSpPr>
          <p:cNvPr id="8" name="Text 6"/>
          <p:cNvSpPr txBox="1"/>
          <p:nvPr/>
        </p:nvSpPr>
        <p:spPr>
          <a:xfrm>
            <a:off x="7772400" y="1737360"/>
            <a:ext cx="384048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30,000</a:t>
            </a:r>
            <a:endParaRPr lang="en-US" sz="4800" dirty="0"/>
          </a:p>
        </p:txBody>
      </p:sp>
      <p:sp>
        <p:nvSpPr>
          <p:cNvPr id="9" name="Text 7"/>
          <p:cNvSpPr txBox="1"/>
          <p:nvPr/>
        </p:nvSpPr>
        <p:spPr>
          <a:xfrm>
            <a:off x="7772400" y="2606040"/>
            <a:ext cx="384048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balanced reviews for the guest-segment model</a:t>
            </a:r>
            <a:endParaRPr lang="en-US" sz="1400" dirty="0"/>
          </a:p>
        </p:txBody>
      </p:sp>
      <p:sp>
        <p:nvSpPr>
          <p:cNvPr id="10" name="Shape 8"/>
          <p:cNvSpPr/>
          <p:nvPr/>
        </p:nvSpPr>
        <p:spPr>
          <a:xfrm>
            <a:off x="548640" y="3703320"/>
            <a:ext cx="5486400" cy="2514600"/>
          </a:xfrm>
          <a:prstGeom prst="roundRect">
            <a:avLst>
              <a:gd name="adj" fmla="val 4364"/>
            </a:avLst>
          </a:prstGeom>
          <a:solidFill>
            <a:srgbClr val="F2F5F9"/>
          </a:solidFill>
          <a:ln w="12700">
            <a:solidFill>
              <a:srgbClr val="F2F5F9"/>
            </a:solidFill>
            <a:prstDash val="solid"/>
          </a:ln>
        </p:spPr>
      </p:sp>
      <p:sp>
        <p:nvSpPr>
          <p:cNvPr id="11" name="Shape 9"/>
          <p:cNvSpPr/>
          <p:nvPr/>
        </p:nvSpPr>
        <p:spPr>
          <a:xfrm>
            <a:off x="822960" y="3931920"/>
            <a:ext cx="502920" cy="502920"/>
          </a:xfrm>
          <a:prstGeom prst="ellipse">
            <a:avLst/>
          </a:prstGeom>
          <a:solidFill>
            <a:srgbClr val="E36414"/>
          </a:solidFill>
          <a:ln w="12700">
            <a:solidFill>
              <a:srgbClr val="E36414"/>
            </a:solidFill>
            <a:prstDash val="solid"/>
          </a:ln>
        </p:spPr>
      </p:sp>
      <p:pic>
        <p:nvPicPr>
          <p:cNvPr id="12" name="Image 0" descr="preencoded.png">    </p:cNvPr>
          <p:cNvPicPr>
            <a:picLocks noChangeAspect="1"/>
          </p:cNvPicPr>
          <p:nvPr/>
        </p:nvPicPr>
        <p:blipFill>
          <a:blip r:embed="rId1"/>
          <a:stretch>
            <a:fillRect/>
          </a:stretch>
        </p:blipFill>
        <p:spPr>
          <a:xfrm>
            <a:off x="933602" y="4042562"/>
            <a:ext cx="281635" cy="281635"/>
          </a:xfrm>
          <a:prstGeom prst="rect">
            <a:avLst/>
          </a:prstGeom>
        </p:spPr>
      </p:pic>
      <p:sp>
        <p:nvSpPr>
          <p:cNvPr id="13" name="Text 10"/>
          <p:cNvSpPr txBox="1"/>
          <p:nvPr/>
        </p:nvSpPr>
        <p:spPr>
          <a:xfrm>
            <a:off x="1463040" y="3959352"/>
            <a:ext cx="448056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Labels come from the data itself</a:t>
            </a:r>
            <a:endParaRPr lang="en-US" sz="1700" dirty="0"/>
          </a:p>
        </p:txBody>
      </p:sp>
      <p:sp>
        <p:nvSpPr>
          <p:cNvPr id="14" name="Text 11"/>
          <p:cNvSpPr txBox="1"/>
          <p:nvPr/>
        </p:nvSpPr>
        <p:spPr>
          <a:xfrm>
            <a:off x="868680" y="4572000"/>
            <a:ext cx="5029200" cy="16002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Score &lt; 5.5 → negative · 6.5–7.9 → neutral · ≥ 9.0 → positive</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Trip tag “Business trip” → business · “Leisure trip” → leisure</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Ambiguous scores in between are left out</a:t>
            </a:r>
            <a:endParaRPr lang="en-US" sz="1400" dirty="0"/>
          </a:p>
        </p:txBody>
      </p:sp>
      <p:sp>
        <p:nvSpPr>
          <p:cNvPr id="15" name="Shape 12"/>
          <p:cNvSpPr/>
          <p:nvPr/>
        </p:nvSpPr>
        <p:spPr>
          <a:xfrm>
            <a:off x="6263640" y="3703320"/>
            <a:ext cx="5394960" cy="2514600"/>
          </a:xfrm>
          <a:prstGeom prst="roundRect">
            <a:avLst>
              <a:gd name="adj" fmla="val 4364"/>
            </a:avLst>
          </a:prstGeom>
          <a:solidFill>
            <a:srgbClr val="F2F5F9"/>
          </a:solidFill>
          <a:ln w="12700">
            <a:solidFill>
              <a:srgbClr val="F2F5F9"/>
            </a:solidFill>
            <a:prstDash val="solid"/>
          </a:ln>
        </p:spPr>
      </p:sp>
      <p:sp>
        <p:nvSpPr>
          <p:cNvPr id="16" name="Shape 13"/>
          <p:cNvSpPr/>
          <p:nvPr/>
        </p:nvSpPr>
        <p:spPr>
          <a:xfrm>
            <a:off x="6537960" y="3931920"/>
            <a:ext cx="502920" cy="502920"/>
          </a:xfrm>
          <a:prstGeom prst="ellipse">
            <a:avLst/>
          </a:prstGeom>
          <a:solidFill>
            <a:srgbClr val="E36414"/>
          </a:solidFill>
          <a:ln w="12700">
            <a:solidFill>
              <a:srgbClr val="E36414"/>
            </a:solidFill>
            <a:prstDash val="solid"/>
          </a:ln>
        </p:spPr>
      </p:sp>
      <p:pic>
        <p:nvPicPr>
          <p:cNvPr id="17" name="Image 1" descr="preencoded.png">    </p:cNvPr>
          <p:cNvPicPr>
            <a:picLocks noChangeAspect="1"/>
          </p:cNvPicPr>
          <p:nvPr/>
        </p:nvPicPr>
        <p:blipFill>
          <a:blip r:embed="rId2"/>
          <a:stretch>
            <a:fillRect/>
          </a:stretch>
        </p:blipFill>
        <p:spPr>
          <a:xfrm>
            <a:off x="6648602" y="4042562"/>
            <a:ext cx="281635" cy="281635"/>
          </a:xfrm>
          <a:prstGeom prst="rect">
            <a:avLst/>
          </a:prstGeom>
        </p:spPr>
      </p:pic>
      <p:sp>
        <p:nvSpPr>
          <p:cNvPr id="18" name="Text 14"/>
          <p:cNvSpPr txBox="1"/>
          <p:nvPr/>
        </p:nvSpPr>
        <p:spPr>
          <a:xfrm>
            <a:off x="7178040" y="3959352"/>
            <a:ext cx="438912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Pre-processing</a:t>
            </a:r>
            <a:endParaRPr lang="en-US" sz="1700" dirty="0"/>
          </a:p>
        </p:txBody>
      </p:sp>
      <p:sp>
        <p:nvSpPr>
          <p:cNvPr id="19" name="Text 15"/>
          <p:cNvSpPr txBox="1"/>
          <p:nvPr/>
        </p:nvSpPr>
        <p:spPr>
          <a:xfrm>
            <a:off x="6583680" y="4572000"/>
            <a:ext cx="4937760" cy="16002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Join the “liked” and “disliked” parts into one review</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Remove placeholders, empty and duplicate reviews</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15,000 reviews per label · split 80 / 10 / 10</a:t>
            </a:r>
            <a:endParaRPr lang="en-US" sz="1400" dirty="0"/>
          </a:p>
        </p:txBody>
      </p:sp>
      <p:sp>
        <p:nvSpPr>
          <p:cNvPr id="20" name="Text 16"/>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Models: small, fast, fine-tuned on hotel reviews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Each student fine-tuned one model; both compared two Hugging Face candidates</a:t>
            </a:r>
            <a:endParaRPr lang="en-US" sz="1600" dirty="0"/>
          </a:p>
        </p:txBody>
      </p:sp>
      <p:sp>
        <p:nvSpPr>
          <p:cNvPr id="4" name="Shape 2"/>
          <p:cNvSpPr/>
          <p:nvPr/>
        </p:nvSpPr>
        <p:spPr>
          <a:xfrm>
            <a:off x="548640" y="1737360"/>
            <a:ext cx="2697480" cy="2194560"/>
          </a:xfrm>
          <a:prstGeom prst="roundRect">
            <a:avLst>
              <a:gd name="adj" fmla="val 5000"/>
            </a:avLst>
          </a:prstGeom>
          <a:solidFill>
            <a:srgbClr val="F2F5F9"/>
          </a:solidFill>
          <a:ln w="12700">
            <a:solidFill>
              <a:srgbClr val="F2F5F9"/>
            </a:solidFill>
            <a:prstDash val="solid"/>
          </a:ln>
        </p:spPr>
      </p:sp>
      <p:sp>
        <p:nvSpPr>
          <p:cNvPr id="5" name="Shape 3"/>
          <p:cNvSpPr/>
          <p:nvPr/>
        </p:nvSpPr>
        <p:spPr>
          <a:xfrm>
            <a:off x="777240" y="1965960"/>
            <a:ext cx="502920" cy="502920"/>
          </a:xfrm>
          <a:prstGeom prst="ellipse">
            <a:avLst/>
          </a:prstGeom>
          <a:solidFill>
            <a:srgbClr val="E36414"/>
          </a:solidFill>
          <a:ln w="12700">
            <a:solidFill>
              <a:srgbClr val="E36414"/>
            </a:solidFill>
            <a:prstDash val="solid"/>
          </a:ln>
        </p:spPr>
      </p:sp>
      <p:pic>
        <p:nvPicPr>
          <p:cNvPr id="6" name="Image 0" descr="preencoded.png">    </p:cNvPr>
          <p:cNvPicPr>
            <a:picLocks noChangeAspect="1"/>
          </p:cNvPicPr>
          <p:nvPr/>
        </p:nvPicPr>
        <p:blipFill>
          <a:blip r:embed="rId1"/>
          <a:stretch>
            <a:fillRect/>
          </a:stretch>
        </p:blipFill>
        <p:spPr>
          <a:xfrm>
            <a:off x="887882" y="2076602"/>
            <a:ext cx="281635" cy="281635"/>
          </a:xfrm>
          <a:prstGeom prst="rect">
            <a:avLst/>
          </a:prstGeom>
        </p:spPr>
      </p:pic>
      <p:sp>
        <p:nvSpPr>
          <p:cNvPr id="7" name="Text 4"/>
          <p:cNvSpPr txBox="1"/>
          <p:nvPr/>
        </p:nvSpPr>
        <p:spPr>
          <a:xfrm>
            <a:off x="777240" y="2606040"/>
            <a:ext cx="2286000" cy="45720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Student 1 · Sentiment</a:t>
            </a:r>
            <a:endParaRPr lang="en-US" sz="1600" dirty="0"/>
          </a:p>
        </p:txBody>
      </p:sp>
      <p:sp>
        <p:nvSpPr>
          <p:cNvPr id="8" name="Text 5"/>
          <p:cNvSpPr txBox="1"/>
          <p:nvPr/>
        </p:nvSpPr>
        <p:spPr>
          <a:xfrm>
            <a:off x="777240" y="3063240"/>
            <a:ext cx="2331720" cy="77724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negative / neutral / positive</a:t>
            </a:r>
            <a:endParaRPr lang="en-US" sz="1300" dirty="0"/>
          </a:p>
          <a:p>
            <a:pPr indent="0" marL="0">
              <a:buNone/>
            </a:pPr>
            <a:r>
              <a:rPr lang="en-US" sz="1300" dirty="0">
                <a:solidFill>
                  <a:srgbClr val="1F2328"/>
                </a:solidFill>
                <a:latin typeface="Calibri" pitchFamily="34" charset="0"/>
                <a:ea typeface="Calibri" pitchFamily="34" charset="-122"/>
                <a:cs typeface="Calibri" pitchFamily="34" charset="-120"/>
              </a:rPr>
              <a:t>Final model: oh-review-sentiment</a:t>
            </a:r>
            <a:endParaRPr lang="en-US" sz="1300" dirty="0"/>
          </a:p>
        </p:txBody>
      </p:sp>
      <p:sp>
        <p:nvSpPr>
          <p:cNvPr id="9" name="Shape 6"/>
          <p:cNvSpPr/>
          <p:nvPr/>
        </p:nvSpPr>
        <p:spPr>
          <a:xfrm>
            <a:off x="3429000" y="1737360"/>
            <a:ext cx="2697480" cy="2194560"/>
          </a:xfrm>
          <a:prstGeom prst="roundRect">
            <a:avLst>
              <a:gd name="adj" fmla="val 5000"/>
            </a:avLst>
          </a:prstGeom>
          <a:solidFill>
            <a:srgbClr val="F2F5F9"/>
          </a:solidFill>
          <a:ln w="12700">
            <a:solidFill>
              <a:srgbClr val="F2F5F9"/>
            </a:solidFill>
            <a:prstDash val="solid"/>
          </a:ln>
        </p:spPr>
      </p:sp>
      <p:sp>
        <p:nvSpPr>
          <p:cNvPr id="10" name="Shape 7"/>
          <p:cNvSpPr/>
          <p:nvPr/>
        </p:nvSpPr>
        <p:spPr>
          <a:xfrm>
            <a:off x="3657600" y="1965960"/>
            <a:ext cx="502920" cy="502920"/>
          </a:xfrm>
          <a:prstGeom prst="ellipse">
            <a:avLst/>
          </a:prstGeom>
          <a:solidFill>
            <a:srgbClr val="E36414"/>
          </a:solidFill>
          <a:ln w="12700">
            <a:solidFill>
              <a:srgbClr val="E36414"/>
            </a:solidFill>
            <a:prstDash val="solid"/>
          </a:ln>
        </p:spPr>
      </p:sp>
      <p:pic>
        <p:nvPicPr>
          <p:cNvPr id="11" name="Image 1" descr="preencoded.png">    </p:cNvPr>
          <p:cNvPicPr>
            <a:picLocks noChangeAspect="1"/>
          </p:cNvPicPr>
          <p:nvPr/>
        </p:nvPicPr>
        <p:blipFill>
          <a:blip r:embed="rId2"/>
          <a:stretch>
            <a:fillRect/>
          </a:stretch>
        </p:blipFill>
        <p:spPr>
          <a:xfrm>
            <a:off x="3768242" y="2076602"/>
            <a:ext cx="281635" cy="281635"/>
          </a:xfrm>
          <a:prstGeom prst="rect">
            <a:avLst/>
          </a:prstGeom>
        </p:spPr>
      </p:pic>
      <p:sp>
        <p:nvSpPr>
          <p:cNvPr id="12" name="Text 8"/>
          <p:cNvSpPr txBox="1"/>
          <p:nvPr/>
        </p:nvSpPr>
        <p:spPr>
          <a:xfrm>
            <a:off x="3657600" y="2606040"/>
            <a:ext cx="2286000" cy="45720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Student 2 · Guest segment</a:t>
            </a:r>
            <a:endParaRPr lang="en-US" sz="1600" dirty="0"/>
          </a:p>
        </p:txBody>
      </p:sp>
      <p:sp>
        <p:nvSpPr>
          <p:cNvPr id="13" name="Text 9"/>
          <p:cNvSpPr txBox="1"/>
          <p:nvPr/>
        </p:nvSpPr>
        <p:spPr>
          <a:xfrm>
            <a:off x="3657600" y="3063240"/>
            <a:ext cx="2331720" cy="77724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business / leisure</a:t>
            </a:r>
            <a:endParaRPr lang="en-US" sz="1300" dirty="0"/>
          </a:p>
          <a:p>
            <a:pPr indent="0" marL="0">
              <a:buNone/>
            </a:pPr>
            <a:r>
              <a:rPr lang="en-US" sz="1300" dirty="0">
                <a:solidFill>
                  <a:srgbClr val="1F2328"/>
                </a:solidFill>
                <a:latin typeface="Calibri" pitchFamily="34" charset="0"/>
                <a:ea typeface="Calibri" pitchFamily="34" charset="-122"/>
                <a:cs typeface="Calibri" pitchFamily="34" charset="-120"/>
              </a:rPr>
              <a:t>Final model: oh-guest-segment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5532120" cy="914400"/>
        </p:xfrm>
        <a:graphic>
          <a:graphicData uri="http://schemas.openxmlformats.org/drawingml/2006/table">
            <a:tbl>
              <a:tblPr/>
              <a:tblGrid>
                <a:gridCol w="3017520"/>
                <a:gridCol w="731520"/>
                <a:gridCol w="17830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Candidate (Hugging Face)</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4213D"/>
                    </a:solidFill>
                  </a:tcPr>
                </a:tc>
              </a:tr>
              <a:tr h="329184">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distilbert-base-uncased</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67M</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Fine-tuned · selected</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r>
              <a:tr h="329184">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distilroberta-base</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82M</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Fine-tuned · compared</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r>
              <a:tr h="329184">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nlptown bert-base-multilingual-sentiment</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167M</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Baseline, no training</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r>
              <a:tr h="329184">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facebook/bart-large-mnli</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407M</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Baseline, zero-shot</a:t>
                      </a:r>
                      <a:endParaRPr lang="en-US" sz="1200" dirty="0">
                        <a:latin typeface="Calibri" charset="0"/>
                        <a:ea typeface="Calibri" charset="0"/>
                        <a:cs typeface="Calibri" charset="0"/>
                      </a:endParaRPr>
                    </a:p>
                  </a:txBody>
                  <a:tcPr marL="91440" marR="91440" marT="45720" marB="45720">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r>
            </a:tbl>
          </a:graphicData>
        </a:graphic>
      </p:graphicFrame>
      <p:sp>
        <p:nvSpPr>
          <p:cNvPr id="15" name="Shape 10"/>
          <p:cNvSpPr/>
          <p:nvPr/>
        </p:nvSpPr>
        <p:spPr>
          <a:xfrm>
            <a:off x="6400800" y="1737360"/>
            <a:ext cx="5257800" cy="4480560"/>
          </a:xfrm>
          <a:prstGeom prst="roundRect">
            <a:avLst>
              <a:gd name="adj" fmla="val 2449"/>
            </a:avLst>
          </a:prstGeom>
          <a:solidFill>
            <a:srgbClr val="FCEFE7"/>
          </a:solidFill>
          <a:ln w="12700">
            <a:solidFill>
              <a:srgbClr val="FCEFE7"/>
            </a:solidFill>
            <a:prstDash val="solid"/>
          </a:ln>
        </p:spPr>
      </p:sp>
      <p:sp>
        <p:nvSpPr>
          <p:cNvPr id="16" name="Shape 11"/>
          <p:cNvSpPr/>
          <p:nvPr/>
        </p:nvSpPr>
        <p:spPr>
          <a:xfrm>
            <a:off x="6675120" y="1965960"/>
            <a:ext cx="502920" cy="502920"/>
          </a:xfrm>
          <a:prstGeom prst="ellipse">
            <a:avLst/>
          </a:prstGeom>
          <a:solidFill>
            <a:srgbClr val="E36414"/>
          </a:solidFill>
          <a:ln w="12700">
            <a:solidFill>
              <a:srgbClr val="E36414"/>
            </a:solidFill>
            <a:prstDash val="solid"/>
          </a:ln>
        </p:spPr>
      </p:sp>
      <p:pic>
        <p:nvPicPr>
          <p:cNvPr id="17" name="Image 2" descr="preencoded.png">    </p:cNvPr>
          <p:cNvPicPr>
            <a:picLocks noChangeAspect="1"/>
          </p:cNvPicPr>
          <p:nvPr/>
        </p:nvPicPr>
        <p:blipFill>
          <a:blip r:embed="rId3"/>
          <a:stretch>
            <a:fillRect/>
          </a:stretch>
        </p:blipFill>
        <p:spPr>
          <a:xfrm>
            <a:off x="6785762" y="2076602"/>
            <a:ext cx="281635" cy="281635"/>
          </a:xfrm>
          <a:prstGeom prst="rect">
            <a:avLst/>
          </a:prstGeom>
        </p:spPr>
      </p:pic>
      <p:sp>
        <p:nvSpPr>
          <p:cNvPr id="18" name="Text 12"/>
          <p:cNvSpPr txBox="1"/>
          <p:nvPr/>
        </p:nvSpPr>
        <p:spPr>
          <a:xfrm>
            <a:off x="7315200" y="1993392"/>
            <a:ext cx="411480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Fine-tuning set-up</a:t>
            </a:r>
            <a:endParaRPr lang="en-US" sz="1700" dirty="0"/>
          </a:p>
        </p:txBody>
      </p:sp>
      <p:sp>
        <p:nvSpPr>
          <p:cNvPr id="19" name="Text 13"/>
          <p:cNvSpPr txBox="1"/>
          <p:nvPr/>
        </p:nvSpPr>
        <p:spPr>
          <a:xfrm>
            <a:off x="6720840" y="2651760"/>
            <a:ext cx="4754880" cy="347472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Google Colab, free T4 GPU</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New classification head on a pre-trained encoder</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2 epochs · learning rate 3e-5 · batch 32 · max 256 tokens</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Best epoch kept by validation macro-F1</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Small distilled models → fast enough on Streamlit's CPU</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No large language models, as the course recommends</a:t>
            </a:r>
            <a:endParaRPr lang="en-US" sz="1400" dirty="0"/>
          </a:p>
        </p:txBody>
      </p:sp>
      <p:sp>
        <p:nvSpPr>
          <p:cNvPr id="20" name="Text 14"/>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We improved the models in two rounds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The first segment model failed — we changed the question, not just the model</a:t>
            </a:r>
            <a:endParaRPr lang="en-US" sz="1600" dirty="0"/>
          </a:p>
        </p:txBody>
      </p:sp>
      <p:graphicFrame>
        <p:nvGraphicFramePr>
          <p:cNvPr id="4" name="Chart 0" descr=""/>
          <p:cNvGraphicFramePr/>
          <p:nvPr/>
        </p:nvGraphicFramePr>
        <p:xfrm>
          <a:off x="548640" y="164592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1737360"/>
            <a:ext cx="4892040" cy="2057400"/>
          </a:xfrm>
          <a:prstGeom prst="roundRect">
            <a:avLst>
              <a:gd name="adj" fmla="val 5333"/>
            </a:avLst>
          </a:prstGeom>
          <a:solidFill>
            <a:srgbClr val="F2F5F9"/>
          </a:solidFill>
          <a:ln w="12700">
            <a:solidFill>
              <a:srgbClr val="F2F5F9"/>
            </a:solidFill>
            <a:prstDash val="solid"/>
          </a:ln>
        </p:spPr>
      </p:sp>
      <p:sp>
        <p:nvSpPr>
          <p:cNvPr id="6" name="Shape 3"/>
          <p:cNvSpPr/>
          <p:nvPr/>
        </p:nvSpPr>
        <p:spPr>
          <a:xfrm>
            <a:off x="7040880" y="1965960"/>
            <a:ext cx="502920" cy="502920"/>
          </a:xfrm>
          <a:prstGeom prst="ellipse">
            <a:avLst/>
          </a:prstGeom>
          <a:solidFill>
            <a:srgbClr val="14213D"/>
          </a:solidFill>
          <a:ln w="12700">
            <a:solidFill>
              <a:srgbClr val="14213D"/>
            </a:solidFill>
            <a:prstDash val="solid"/>
          </a:ln>
        </p:spPr>
      </p:sp>
      <p:pic>
        <p:nvPicPr>
          <p:cNvPr id="7" name="Image 0" descr="preencoded.png">    </p:cNvPr>
          <p:cNvPicPr>
            <a:picLocks noChangeAspect="1"/>
          </p:cNvPicPr>
          <p:nvPr/>
        </p:nvPicPr>
        <p:blipFill>
          <a:blip r:embed="rId2"/>
          <a:stretch>
            <a:fillRect/>
          </a:stretch>
        </p:blipFill>
        <p:spPr>
          <a:xfrm>
            <a:off x="7151522" y="2076602"/>
            <a:ext cx="281635" cy="281635"/>
          </a:xfrm>
          <a:prstGeom prst="rect">
            <a:avLst/>
          </a:prstGeom>
        </p:spPr>
      </p:pic>
      <p:sp>
        <p:nvSpPr>
          <p:cNvPr id="8" name="Text 4"/>
          <p:cNvSpPr txBox="1"/>
          <p:nvPr/>
        </p:nvSpPr>
        <p:spPr>
          <a:xfrm>
            <a:off x="7680960" y="1993392"/>
            <a:ext cx="38404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Round 1: three segments</a:t>
            </a:r>
            <a:endParaRPr lang="en-US" sz="1700" dirty="0"/>
          </a:p>
        </p:txBody>
      </p:sp>
      <p:sp>
        <p:nvSpPr>
          <p:cNvPr id="9" name="Text 5"/>
          <p:cNvSpPr txBox="1"/>
          <p:nvPr/>
        </p:nvSpPr>
        <p:spPr>
          <a:xfrm>
            <a:off x="7086600" y="2560320"/>
            <a:ext cx="4389120" cy="114300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Business / couple / family reached only 55.8%: one family review in three was read as “couple”, because most reviews never say who the guest travelled with.</a:t>
            </a:r>
            <a:endParaRPr lang="en-US" sz="1400" dirty="0"/>
          </a:p>
        </p:txBody>
      </p:sp>
      <p:sp>
        <p:nvSpPr>
          <p:cNvPr id="10" name="Shape 6"/>
          <p:cNvSpPr/>
          <p:nvPr/>
        </p:nvSpPr>
        <p:spPr>
          <a:xfrm>
            <a:off x="6766560" y="4023360"/>
            <a:ext cx="4892040" cy="2103120"/>
          </a:xfrm>
          <a:prstGeom prst="roundRect">
            <a:avLst>
              <a:gd name="adj" fmla="val 5217"/>
            </a:avLst>
          </a:prstGeom>
          <a:solidFill>
            <a:srgbClr val="FCEFE7"/>
          </a:solidFill>
          <a:ln w="12700">
            <a:solidFill>
              <a:srgbClr val="FCEFE7"/>
            </a:solidFill>
            <a:prstDash val="solid"/>
          </a:ln>
        </p:spPr>
      </p:sp>
      <p:sp>
        <p:nvSpPr>
          <p:cNvPr id="11" name="Shape 7"/>
          <p:cNvSpPr/>
          <p:nvPr/>
        </p:nvSpPr>
        <p:spPr>
          <a:xfrm>
            <a:off x="7040880" y="4251960"/>
            <a:ext cx="502920" cy="502920"/>
          </a:xfrm>
          <a:prstGeom prst="ellipse">
            <a:avLst/>
          </a:prstGeom>
          <a:solidFill>
            <a:srgbClr val="E36414"/>
          </a:solidFill>
          <a:ln w="12700">
            <a:solidFill>
              <a:srgbClr val="E36414"/>
            </a:solidFill>
            <a:prstDash val="solid"/>
          </a:ln>
        </p:spPr>
      </p:sp>
      <p:pic>
        <p:nvPicPr>
          <p:cNvPr id="12" name="Image 1" descr="preencoded.png">    </p:cNvPr>
          <p:cNvPicPr>
            <a:picLocks noChangeAspect="1"/>
          </p:cNvPicPr>
          <p:nvPr/>
        </p:nvPicPr>
        <p:blipFill>
          <a:blip r:embed="rId3"/>
          <a:stretch>
            <a:fillRect/>
          </a:stretch>
        </p:blipFill>
        <p:spPr>
          <a:xfrm>
            <a:off x="7151522" y="4362602"/>
            <a:ext cx="281635" cy="281635"/>
          </a:xfrm>
          <a:prstGeom prst="rect">
            <a:avLst/>
          </a:prstGeom>
        </p:spPr>
      </p:pic>
      <p:sp>
        <p:nvSpPr>
          <p:cNvPr id="13" name="Text 8"/>
          <p:cNvSpPr txBox="1"/>
          <p:nvPr/>
        </p:nvSpPr>
        <p:spPr>
          <a:xfrm>
            <a:off x="7680960" y="4279392"/>
            <a:ext cx="38404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Round 2: what we changed</a:t>
            </a:r>
            <a:endParaRPr lang="en-US" sz="1700" dirty="0"/>
          </a:p>
        </p:txBody>
      </p:sp>
      <p:sp>
        <p:nvSpPr>
          <p:cNvPr id="14" name="Text 9"/>
          <p:cNvSpPr txBox="1"/>
          <p:nvPr/>
        </p:nvSpPr>
        <p:spPr>
          <a:xfrm>
            <a:off x="7086600" y="4846320"/>
            <a:ext cx="4434840" cy="118872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Business vs. leisure — the core split in hotel revenue management</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2.5× more training data</a:t>
            </a:r>
            <a:endParaRPr lang="en-US" sz="1400" dirty="0"/>
          </a:p>
        </p:txBody>
      </p:sp>
      <p:sp>
        <p:nvSpPr>
          <p:cNvPr id="15" name="Text 10"/>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Fine-tuning beats ready-made models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Experiment 1 — model selection on 4,500 / 3,000 held-out test reviews (accuracy and CPU runtime)</a:t>
            </a:r>
            <a:endParaRPr lang="en-US" sz="1600" dirty="0"/>
          </a:p>
        </p:txBody>
      </p:sp>
      <p:graphicFrame>
        <p:nvGraphicFramePr>
          <p:cNvPr id="4" name="Chart 0" descr=""/>
          <p:cNvGraphicFramePr/>
          <p:nvPr/>
        </p:nvGraphicFramePr>
        <p:xfrm>
          <a:off x="548640" y="164592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858000" y="1737360"/>
            <a:ext cx="228600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+12</a:t>
            </a:r>
            <a:endParaRPr lang="en-US" sz="4800" dirty="0"/>
          </a:p>
        </p:txBody>
      </p:sp>
      <p:sp>
        <p:nvSpPr>
          <p:cNvPr id="6" name="Text 3"/>
          <p:cNvSpPr txBox="1"/>
          <p:nvPr/>
        </p:nvSpPr>
        <p:spPr>
          <a:xfrm>
            <a:off x="6858000" y="2606040"/>
            <a:ext cx="228600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points: sentiment</a:t>
            </a:r>
            <a:endParaRPr lang="en-US" sz="1400" dirty="0"/>
          </a:p>
          <a:p>
            <a:pPr indent="0" marL="0">
              <a:buNone/>
            </a:pPr>
            <a:r>
              <a:rPr lang="en-US" sz="1400" dirty="0">
                <a:solidFill>
                  <a:srgbClr val="5E6369"/>
                </a:solidFill>
                <a:latin typeface="Calibri" pitchFamily="34" charset="0"/>
                <a:ea typeface="Calibri" pitchFamily="34" charset="-122"/>
                <a:cs typeface="Calibri" pitchFamily="34" charset="-120"/>
              </a:rPr>
              <a:t>(62.8% → 75.0%)</a:t>
            </a:r>
            <a:endParaRPr lang="en-US" sz="1400" dirty="0"/>
          </a:p>
        </p:txBody>
      </p:sp>
      <p:sp>
        <p:nvSpPr>
          <p:cNvPr id="7" name="Text 4"/>
          <p:cNvSpPr txBox="1"/>
          <p:nvPr/>
        </p:nvSpPr>
        <p:spPr>
          <a:xfrm>
            <a:off x="9326880" y="1737360"/>
            <a:ext cx="237744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+17</a:t>
            </a:r>
            <a:endParaRPr lang="en-US" sz="4800" dirty="0"/>
          </a:p>
        </p:txBody>
      </p:sp>
      <p:sp>
        <p:nvSpPr>
          <p:cNvPr id="8" name="Text 5"/>
          <p:cNvSpPr txBox="1"/>
          <p:nvPr/>
        </p:nvSpPr>
        <p:spPr>
          <a:xfrm>
            <a:off x="9326880" y="2606040"/>
            <a:ext cx="237744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points: guest segment</a:t>
            </a:r>
            <a:endParaRPr lang="en-US" sz="1400" dirty="0"/>
          </a:p>
          <a:p>
            <a:pPr indent="0" marL="0">
              <a:buNone/>
            </a:pPr>
            <a:r>
              <a:rPr lang="en-US" sz="1400" dirty="0">
                <a:solidFill>
                  <a:srgbClr val="5E6369"/>
                </a:solidFill>
                <a:latin typeface="Calibri" pitchFamily="34" charset="0"/>
                <a:ea typeface="Calibri" pitchFamily="34" charset="-122"/>
                <a:cs typeface="Calibri" pitchFamily="34" charset="-120"/>
              </a:rPr>
              <a:t>(55.4% → 72.1%)</a:t>
            </a:r>
            <a:endParaRPr lang="en-US" sz="1400" dirty="0"/>
          </a:p>
        </p:txBody>
      </p:sp>
      <p:sp>
        <p:nvSpPr>
          <p:cNvPr id="9" name="Text 6"/>
          <p:cNvSpPr txBox="1"/>
          <p:nvPr/>
        </p:nvSpPr>
        <p:spPr>
          <a:xfrm>
            <a:off x="6858000" y="3611880"/>
            <a:ext cx="2286000" cy="86868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20×</a:t>
            </a:r>
            <a:endParaRPr lang="en-US" sz="4800" dirty="0"/>
          </a:p>
        </p:txBody>
      </p:sp>
      <p:sp>
        <p:nvSpPr>
          <p:cNvPr id="10" name="Text 7"/>
          <p:cNvSpPr txBox="1"/>
          <p:nvPr/>
        </p:nvSpPr>
        <p:spPr>
          <a:xfrm>
            <a:off x="6858000" y="4480560"/>
            <a:ext cx="228600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faster than zero-shot BART on CPU (83 ms vs 1.7 s)</a:t>
            </a:r>
            <a:endParaRPr lang="en-US" sz="1400" dirty="0"/>
          </a:p>
        </p:txBody>
      </p:sp>
      <p:sp>
        <p:nvSpPr>
          <p:cNvPr id="11" name="Text 8"/>
          <p:cNvSpPr txBox="1"/>
          <p:nvPr/>
        </p:nvSpPr>
        <p:spPr>
          <a:xfrm>
            <a:off x="9326880" y="3611880"/>
            <a:ext cx="2377440" cy="86868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a:t>
            </a:r>
            <a:endParaRPr lang="en-US" sz="4800" dirty="0"/>
          </a:p>
        </p:txBody>
      </p:sp>
      <p:sp>
        <p:nvSpPr>
          <p:cNvPr id="12" name="Text 9"/>
          <p:cNvSpPr txBox="1"/>
          <p:nvPr/>
        </p:nvSpPr>
        <p:spPr>
          <a:xfrm>
            <a:off x="9326880" y="4480560"/>
            <a:ext cx="237744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DistilBERT and DistilRoBERTa tied (≤ 0.9 pts) → smaller model chosen</a:t>
            </a:r>
            <a:endParaRPr lang="en-US" sz="1400" dirty="0"/>
          </a:p>
        </p:txBody>
      </p:sp>
      <p:sp>
        <p:nvSpPr>
          <p:cNvPr id="13" name="Text 10"/>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Where the models make mistakes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Confusion matrices on the test sets</a:t>
            </a:r>
            <a:endParaRPr lang="en-US" sz="1600" dirty="0"/>
          </a:p>
        </p:txBody>
      </p:sp>
      <p:pic>
        <p:nvPicPr>
          <p:cNvPr id="4" name="Image 0" descr="/tmp/claude-0/-home-user-MBA/c563babd-45d2-5f6a-9e16-5c2da7b096e7/scratchpad/report/fig/fig3_confusion.png">    </p:cNvPr>
          <p:cNvPicPr>
            <a:picLocks noChangeAspect="1"/>
          </p:cNvPicPr>
          <p:nvPr/>
        </p:nvPicPr>
        <p:blipFill>
          <a:blip r:embed="rId1"/>
          <a:stretch>
            <a:fillRect/>
          </a:stretch>
        </p:blipFill>
        <p:spPr>
          <a:xfrm>
            <a:off x="457200" y="1600200"/>
            <a:ext cx="7498080" cy="2697480"/>
          </a:xfrm>
          <a:prstGeom prst="rect">
            <a:avLst/>
          </a:prstGeom>
        </p:spPr>
      </p:pic>
      <p:sp>
        <p:nvSpPr>
          <p:cNvPr id="5" name="Shape 2"/>
          <p:cNvSpPr/>
          <p:nvPr/>
        </p:nvSpPr>
        <p:spPr>
          <a:xfrm>
            <a:off x="8229600" y="1645920"/>
            <a:ext cx="3429000" cy="4480560"/>
          </a:xfrm>
          <a:prstGeom prst="roundRect">
            <a:avLst>
              <a:gd name="adj" fmla="val 3200"/>
            </a:avLst>
          </a:prstGeom>
          <a:solidFill>
            <a:srgbClr val="FCEFE7"/>
          </a:solidFill>
          <a:ln w="12700">
            <a:solidFill>
              <a:srgbClr val="FCEFE7"/>
            </a:solidFill>
            <a:prstDash val="solid"/>
          </a:ln>
        </p:spPr>
      </p:sp>
      <p:sp>
        <p:nvSpPr>
          <p:cNvPr id="6" name="Shape 3"/>
          <p:cNvSpPr/>
          <p:nvPr/>
        </p:nvSpPr>
        <p:spPr>
          <a:xfrm>
            <a:off x="8503920" y="1874520"/>
            <a:ext cx="502920" cy="502920"/>
          </a:xfrm>
          <a:prstGeom prst="ellipse">
            <a:avLst/>
          </a:prstGeom>
          <a:solidFill>
            <a:srgbClr val="E36414"/>
          </a:solidFill>
          <a:ln w="12700">
            <a:solidFill>
              <a:srgbClr val="E36414"/>
            </a:solidFill>
            <a:prstDash val="solid"/>
          </a:ln>
        </p:spPr>
      </p:sp>
      <p:pic>
        <p:nvPicPr>
          <p:cNvPr id="7" name="Image 1" descr="preencoded.png">    </p:cNvPr>
          <p:cNvPicPr>
            <a:picLocks noChangeAspect="1"/>
          </p:cNvPicPr>
          <p:nvPr/>
        </p:nvPicPr>
        <p:blipFill>
          <a:blip r:embed="rId2"/>
          <a:stretch>
            <a:fillRect/>
          </a:stretch>
        </p:blipFill>
        <p:spPr>
          <a:xfrm>
            <a:off x="8614562" y="1985162"/>
            <a:ext cx="281635" cy="281635"/>
          </a:xfrm>
          <a:prstGeom prst="rect">
            <a:avLst/>
          </a:prstGeom>
        </p:spPr>
      </p:pic>
      <p:sp>
        <p:nvSpPr>
          <p:cNvPr id="8" name="Text 4"/>
          <p:cNvSpPr txBox="1"/>
          <p:nvPr/>
        </p:nvSpPr>
        <p:spPr>
          <a:xfrm>
            <a:off x="8503920" y="2514600"/>
            <a:ext cx="3017520" cy="73152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Why the signal is still reliable</a:t>
            </a:r>
            <a:endParaRPr lang="en-US" sz="1600" dirty="0"/>
          </a:p>
        </p:txBody>
      </p:sp>
      <p:sp>
        <p:nvSpPr>
          <p:cNvPr id="9" name="Text 5"/>
          <p:cNvSpPr txBox="1"/>
          <p:nvPr/>
        </p:nvSpPr>
        <p:spPr>
          <a:xfrm>
            <a:off x="8503920" y="3246120"/>
            <a:ext cx="3017520" cy="283464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Positive and negative are confused in only 1.4% of reviews</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Most errors are one step away: neutral vs. its neighbours</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Segment errors are balanced (432 vs. 406), so no bias towards one group</a:t>
            </a:r>
            <a:endParaRPr lang="en-US" sz="1400" dirty="0"/>
          </a:p>
        </p:txBody>
      </p:sp>
      <p:sp>
        <p:nvSpPr>
          <p:cNvPr id="10" name="Text 6"/>
          <p:cNvSpPr txBox="1"/>
          <p:nvPr/>
        </p:nvSpPr>
        <p:spPr>
          <a:xfrm>
            <a:off x="548640" y="4663440"/>
            <a:ext cx="7315200" cy="914400"/>
          </a:xfrm>
          <a:prstGeom prst="rect">
            <a:avLst/>
          </a:prstGeom>
          <a:noFill/>
          <a:ln/>
        </p:spPr>
        <p:txBody>
          <a:bodyPr wrap="square" lIns="0" tIns="0" rIns="0" bIns="0" rtlCol="0" anchor="ctr"/>
          <a:lstStyle/>
          <a:p>
            <a:pPr indent="0" marL="0">
              <a:buNone/>
            </a:pPr>
            <a:r>
              <a:rPr lang="en-US" sz="1500" i="1" dirty="0">
                <a:solidFill>
                  <a:srgbClr val="5E6369"/>
                </a:solidFill>
                <a:latin typeface="Calibri" pitchFamily="34" charset="0"/>
                <a:ea typeface="Calibri" pitchFamily="34" charset="-122"/>
                <a:cs typeface="Calibri" pitchFamily="34" charset="-120"/>
              </a:rPr>
              <a:t>Remaining errors are mostly reviews that do not say why the guest travelled, e.g. “Room was comfortable and location was good.”</a:t>
            </a:r>
            <a:endParaRPr lang="en-US" sz="1500" dirty="0"/>
          </a:p>
        </p:txBody>
      </p:sp>
      <p:sp>
        <p:nvSpPr>
          <p:cNvPr id="11" name="Text 7"/>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app: from reviews to a price suggestion</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oriental-horizon-review.streamlit.app</a:t>
            </a:r>
            <a:endParaRPr lang="en-US" sz="1600" dirty="0"/>
          </a:p>
        </p:txBody>
      </p:sp>
      <p:pic>
        <p:nvPicPr>
          <p:cNvPr id="4" name="Image 0" descr="/tmp/claude-0/-home-user-MBA/c563babd-45d2-5f6a-9e16-5c2da7b096e7/scratchpad/report/fig/shot_results.png">    </p:cNvPr>
          <p:cNvPicPr>
            <a:picLocks noChangeAspect="1"/>
          </p:cNvPicPr>
          <p:nvPr/>
        </p:nvPicPr>
        <p:blipFill>
          <a:blip r:embed="rId1"/>
          <a:stretch>
            <a:fillRect/>
          </a:stretch>
        </p:blipFill>
        <p:spPr>
          <a:xfrm>
            <a:off x="548640" y="1600200"/>
            <a:ext cx="6583680" cy="2386584"/>
          </a:xfrm>
          <a:prstGeom prst="rect">
            <a:avLst/>
          </a:prstGeom>
        </p:spPr>
      </p:pic>
      <p:pic>
        <p:nvPicPr>
          <p:cNvPr id="5" name="Image 1" descr="/tmp/claude-0/-home-user-MBA/c563babd-45d2-5f6a-9e16-5c2da7b096e7/scratchpad/report/fig/shot_actions.png">    </p:cNvPr>
          <p:cNvPicPr>
            <a:picLocks noChangeAspect="1"/>
          </p:cNvPicPr>
          <p:nvPr/>
        </p:nvPicPr>
        <p:blipFill>
          <a:blip r:embed="rId2"/>
          <a:stretch>
            <a:fillRect/>
          </a:stretch>
        </p:blipFill>
        <p:spPr>
          <a:xfrm>
            <a:off x="548640" y="4206240"/>
            <a:ext cx="5120640" cy="1984248"/>
          </a:xfrm>
          <a:prstGeom prst="rect">
            <a:avLst/>
          </a:prstGeom>
        </p:spPr>
      </p:pic>
      <p:sp>
        <p:nvSpPr>
          <p:cNvPr id="6" name="Shape 2"/>
          <p:cNvSpPr/>
          <p:nvPr/>
        </p:nvSpPr>
        <p:spPr>
          <a:xfrm>
            <a:off x="7589520" y="1691640"/>
            <a:ext cx="502920" cy="502920"/>
          </a:xfrm>
          <a:prstGeom prst="ellipse">
            <a:avLst/>
          </a:prstGeom>
          <a:solidFill>
            <a:srgbClr val="14213D"/>
          </a:solidFill>
          <a:ln w="12700">
            <a:solidFill>
              <a:srgbClr val="FFFFFF"/>
            </a:solidFill>
            <a:prstDash val="solid"/>
          </a:ln>
        </p:spPr>
      </p:sp>
      <p:sp>
        <p:nvSpPr>
          <p:cNvPr id="7" name="Text 3"/>
          <p:cNvSpPr txBox="1"/>
          <p:nvPr/>
        </p:nvSpPr>
        <p:spPr>
          <a:xfrm>
            <a:off x="758952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4"/>
          <p:cNvSpPr txBox="1"/>
          <p:nvPr/>
        </p:nvSpPr>
        <p:spPr>
          <a:xfrm>
            <a:off x="8275320" y="1645920"/>
            <a:ext cx="347472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Paste, upload or sample reviews</a:t>
            </a:r>
            <a:endParaRPr lang="en-US" sz="1500" dirty="0"/>
          </a:p>
        </p:txBody>
      </p:sp>
      <p:sp>
        <p:nvSpPr>
          <p:cNvPr id="9" name="Shape 5"/>
          <p:cNvSpPr/>
          <p:nvPr/>
        </p:nvSpPr>
        <p:spPr>
          <a:xfrm>
            <a:off x="7589520" y="2560320"/>
            <a:ext cx="502920" cy="502920"/>
          </a:xfrm>
          <a:prstGeom prst="ellipse">
            <a:avLst/>
          </a:prstGeom>
          <a:solidFill>
            <a:srgbClr val="14213D"/>
          </a:solidFill>
          <a:ln w="12700">
            <a:solidFill>
              <a:srgbClr val="FFFFFF"/>
            </a:solidFill>
            <a:prstDash val="solid"/>
          </a:ln>
        </p:spPr>
      </p:sp>
      <p:sp>
        <p:nvSpPr>
          <p:cNvPr id="10" name="Text 6"/>
          <p:cNvSpPr txBox="1"/>
          <p:nvPr/>
        </p:nvSpPr>
        <p:spPr>
          <a:xfrm>
            <a:off x="7589520" y="2560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7"/>
          <p:cNvSpPr txBox="1"/>
          <p:nvPr/>
        </p:nvSpPr>
        <p:spPr>
          <a:xfrm>
            <a:off x="8275320" y="2514600"/>
            <a:ext cx="347472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Both pipelines classify every review</a:t>
            </a:r>
            <a:endParaRPr lang="en-US" sz="1500" dirty="0"/>
          </a:p>
        </p:txBody>
      </p:sp>
      <p:sp>
        <p:nvSpPr>
          <p:cNvPr id="12" name="Shape 8"/>
          <p:cNvSpPr/>
          <p:nvPr/>
        </p:nvSpPr>
        <p:spPr>
          <a:xfrm>
            <a:off x="7589520" y="3429000"/>
            <a:ext cx="502920" cy="502920"/>
          </a:xfrm>
          <a:prstGeom prst="ellipse">
            <a:avLst/>
          </a:prstGeom>
          <a:solidFill>
            <a:srgbClr val="E36414"/>
          </a:solidFill>
          <a:ln w="12700">
            <a:solidFill>
              <a:srgbClr val="FFFFFF"/>
            </a:solidFill>
            <a:prstDash val="solid"/>
          </a:ln>
        </p:spPr>
      </p:sp>
      <p:sp>
        <p:nvSpPr>
          <p:cNvPr id="13" name="Text 9"/>
          <p:cNvSpPr txBox="1"/>
          <p:nvPr/>
        </p:nvSpPr>
        <p:spPr>
          <a:xfrm>
            <a:off x="7589520" y="3429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0"/>
          <p:cNvSpPr txBox="1"/>
          <p:nvPr/>
        </p:nvSpPr>
        <p:spPr>
          <a:xfrm>
            <a:off x="8275320" y="3383280"/>
            <a:ext cx="347472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Reputation score vs. competitors → suggested rate</a:t>
            </a:r>
            <a:endParaRPr lang="en-US" sz="1500" dirty="0"/>
          </a:p>
        </p:txBody>
      </p:sp>
      <p:sp>
        <p:nvSpPr>
          <p:cNvPr id="15" name="Shape 11"/>
          <p:cNvSpPr/>
          <p:nvPr/>
        </p:nvSpPr>
        <p:spPr>
          <a:xfrm>
            <a:off x="7589520" y="4297680"/>
            <a:ext cx="502920" cy="502920"/>
          </a:xfrm>
          <a:prstGeom prst="ellipse">
            <a:avLst/>
          </a:prstGeom>
          <a:solidFill>
            <a:srgbClr val="E36414"/>
          </a:solidFill>
          <a:ln w="12700">
            <a:solidFill>
              <a:srgbClr val="FFFFFF"/>
            </a:solidFill>
            <a:prstDash val="solid"/>
          </a:ln>
        </p:spPr>
      </p:sp>
      <p:sp>
        <p:nvSpPr>
          <p:cNvPr id="16" name="Text 12"/>
          <p:cNvSpPr txBox="1"/>
          <p:nvPr/>
        </p:nvSpPr>
        <p:spPr>
          <a:xfrm>
            <a:off x="7589520"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3"/>
          <p:cNvSpPr txBox="1"/>
          <p:nvPr/>
        </p:nvSpPr>
        <p:spPr>
          <a:xfrm>
            <a:off x="8275320" y="4251960"/>
            <a:ext cx="347472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Segment mix → pricing actions</a:t>
            </a:r>
            <a:endParaRPr lang="en-US" sz="1500" dirty="0"/>
          </a:p>
        </p:txBody>
      </p:sp>
      <p:sp>
        <p:nvSpPr>
          <p:cNvPr id="18" name="Shape 14"/>
          <p:cNvSpPr/>
          <p:nvPr/>
        </p:nvSpPr>
        <p:spPr>
          <a:xfrm>
            <a:off x="7589520" y="5166360"/>
            <a:ext cx="502920" cy="502920"/>
          </a:xfrm>
          <a:prstGeom prst="ellipse">
            <a:avLst/>
          </a:prstGeom>
          <a:solidFill>
            <a:srgbClr val="14213D"/>
          </a:solidFill>
          <a:ln w="12700">
            <a:solidFill>
              <a:srgbClr val="FFFFFF"/>
            </a:solidFill>
            <a:prstDash val="solid"/>
          </a:ln>
        </p:spPr>
      </p:sp>
      <p:sp>
        <p:nvSpPr>
          <p:cNvPr id="19" name="Text 15"/>
          <p:cNvSpPr txBox="1"/>
          <p:nvPr/>
        </p:nvSpPr>
        <p:spPr>
          <a:xfrm>
            <a:off x="7589520" y="5166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0" name="Text 16"/>
          <p:cNvSpPr txBox="1"/>
          <p:nvPr/>
        </p:nvSpPr>
        <p:spPr>
          <a:xfrm>
            <a:off x="8275320" y="5120640"/>
            <a:ext cx="347472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Download results; check accuracy live</a:t>
            </a:r>
            <a:endParaRPr lang="en-US" sz="1500" dirty="0"/>
          </a:p>
        </p:txBody>
      </p:sp>
      <p:sp>
        <p:nvSpPr>
          <p:cNvPr id="21" name="Text 17"/>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Experiment 2: the deployed app is just as accurate</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Accuracy check run live on Streamlit Cloud — 300 test reviews per model (seed 42)</a:t>
            </a:r>
            <a:endParaRPr lang="en-US" sz="1600" dirty="0"/>
          </a:p>
        </p:txBody>
      </p:sp>
      <p:sp>
        <p:nvSpPr>
          <p:cNvPr id="4" name="Text 2"/>
          <p:cNvSpPr txBox="1"/>
          <p:nvPr/>
        </p:nvSpPr>
        <p:spPr>
          <a:xfrm>
            <a:off x="640080" y="1737360"/>
            <a:ext cx="301752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73.3%</a:t>
            </a:r>
            <a:endParaRPr lang="en-US" sz="4800" dirty="0"/>
          </a:p>
        </p:txBody>
      </p:sp>
      <p:sp>
        <p:nvSpPr>
          <p:cNvPr id="5" name="Text 3"/>
          <p:cNvSpPr txBox="1"/>
          <p:nvPr/>
        </p:nvSpPr>
        <p:spPr>
          <a:xfrm>
            <a:off x="640080" y="2606040"/>
            <a:ext cx="301752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sentiment accuracy on Streamlit Cloud</a:t>
            </a:r>
            <a:endParaRPr lang="en-US" sz="1400" dirty="0"/>
          </a:p>
        </p:txBody>
      </p:sp>
      <p:sp>
        <p:nvSpPr>
          <p:cNvPr id="6" name="Text 4"/>
          <p:cNvSpPr txBox="1"/>
          <p:nvPr/>
        </p:nvSpPr>
        <p:spPr>
          <a:xfrm>
            <a:off x="3840480" y="1737360"/>
            <a:ext cx="3017520" cy="868680"/>
          </a:xfrm>
          <a:prstGeom prst="rect">
            <a:avLst/>
          </a:prstGeom>
          <a:noFill/>
          <a:ln/>
        </p:spPr>
        <p:txBody>
          <a:bodyPr wrap="square" lIns="0" tIns="0" rIns="0" bIns="0" rtlCol="0" anchor="ctr"/>
          <a:lstStyle/>
          <a:p>
            <a:pPr indent="0" marL="0">
              <a:buNone/>
            </a:pPr>
            <a:r>
              <a:rPr lang="en-US" sz="4800" b="1" dirty="0">
                <a:solidFill>
                  <a:srgbClr val="E36414"/>
                </a:solidFill>
                <a:latin typeface="Cambria" pitchFamily="34" charset="0"/>
                <a:ea typeface="Cambria" pitchFamily="34" charset="-122"/>
                <a:cs typeface="Cambria" pitchFamily="34" charset="-120"/>
              </a:rPr>
              <a:t>74.3%</a:t>
            </a:r>
            <a:endParaRPr lang="en-US" sz="4800" dirty="0"/>
          </a:p>
        </p:txBody>
      </p:sp>
      <p:sp>
        <p:nvSpPr>
          <p:cNvPr id="7" name="Text 5"/>
          <p:cNvSpPr txBox="1"/>
          <p:nvPr/>
        </p:nvSpPr>
        <p:spPr>
          <a:xfrm>
            <a:off x="3840480" y="2606040"/>
            <a:ext cx="3017520" cy="640080"/>
          </a:xfrm>
          <a:prstGeom prst="rect">
            <a:avLst/>
          </a:prstGeom>
          <a:noFill/>
          <a:ln/>
        </p:spPr>
        <p:txBody>
          <a:bodyPr wrap="square" lIns="0" tIns="0" rIns="0" bIns="0" rtlCol="0" anchor="t"/>
          <a:lstStyle/>
          <a:p>
            <a:pPr indent="0" marL="0">
              <a:buNone/>
            </a:pPr>
            <a:r>
              <a:rPr lang="en-US" sz="1400" dirty="0">
                <a:solidFill>
                  <a:srgbClr val="5E6369"/>
                </a:solidFill>
                <a:latin typeface="Calibri" pitchFamily="34" charset="0"/>
                <a:ea typeface="Calibri" pitchFamily="34" charset="-122"/>
                <a:cs typeface="Calibri" pitchFamily="34" charset="-120"/>
              </a:rPr>
              <a:t>guest-segment accuracy on Streamlit Cloud</a:t>
            </a:r>
            <a:endParaRPr lang="en-US" sz="1400" dirty="0"/>
          </a:p>
        </p:txBody>
      </p:sp>
      <p:sp>
        <p:nvSpPr>
          <p:cNvPr id="8" name="Shape 6"/>
          <p:cNvSpPr/>
          <p:nvPr/>
        </p:nvSpPr>
        <p:spPr>
          <a:xfrm>
            <a:off x="548640" y="3657600"/>
            <a:ext cx="6309360" cy="2468880"/>
          </a:xfrm>
          <a:prstGeom prst="roundRect">
            <a:avLst>
              <a:gd name="adj" fmla="val 4444"/>
            </a:avLst>
          </a:prstGeom>
          <a:solidFill>
            <a:srgbClr val="F2F5F9"/>
          </a:solidFill>
          <a:ln w="12700">
            <a:solidFill>
              <a:srgbClr val="F2F5F9"/>
            </a:solidFill>
            <a:prstDash val="solid"/>
          </a:ln>
        </p:spPr>
      </p:sp>
      <p:sp>
        <p:nvSpPr>
          <p:cNvPr id="9" name="Shape 7"/>
          <p:cNvSpPr/>
          <p:nvPr/>
        </p:nvSpPr>
        <p:spPr>
          <a:xfrm>
            <a:off x="822960" y="3886200"/>
            <a:ext cx="502920" cy="502920"/>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933602" y="3996842"/>
            <a:ext cx="281635" cy="281635"/>
          </a:xfrm>
          <a:prstGeom prst="rect">
            <a:avLst/>
          </a:prstGeom>
        </p:spPr>
      </p:pic>
      <p:sp>
        <p:nvSpPr>
          <p:cNvPr id="11" name="Text 8"/>
          <p:cNvSpPr txBox="1"/>
          <p:nvPr/>
        </p:nvSpPr>
        <p:spPr>
          <a:xfrm>
            <a:off x="1463040" y="3913632"/>
            <a:ext cx="52120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Exactly the same as in Notebook 03</a:t>
            </a:r>
            <a:endParaRPr lang="en-US" sz="1700" dirty="0"/>
          </a:p>
        </p:txBody>
      </p:sp>
      <p:sp>
        <p:nvSpPr>
          <p:cNvPr id="12" name="Text 9"/>
          <p:cNvSpPr txBox="1"/>
          <p:nvPr/>
        </p:nvSpPr>
        <p:spPr>
          <a:xfrm>
            <a:off x="868680" y="4526280"/>
            <a:ext cx="5852160" cy="15544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Same 300 reviews, same results in Colab and in the app</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Proves the app runs the models our notebooks produced</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Within the ±5-point sampling margin of the full test sets</a:t>
            </a:r>
            <a:endParaRPr lang="en-US" sz="1400" dirty="0"/>
          </a:p>
        </p:txBody>
      </p:sp>
      <p:pic>
        <p:nvPicPr>
          <p:cNvPr id="13" name="Image 1" descr="/tmp/claude-0/-home-user-MBA/c563babd-45d2-5f6a-9e16-5c2da7b096e7/scratchpad/report/fig/shot_accuracy.png">    </p:cNvPr>
          <p:cNvPicPr>
            <a:picLocks noChangeAspect="1"/>
          </p:cNvPicPr>
          <p:nvPr/>
        </p:nvPicPr>
        <p:blipFill>
          <a:blip r:embed="rId2"/>
          <a:stretch>
            <a:fillRect/>
          </a:stretch>
        </p:blipFill>
        <p:spPr>
          <a:xfrm>
            <a:off x="7132320" y="1737360"/>
            <a:ext cx="4526280" cy="3648456"/>
          </a:xfrm>
          <a:prstGeom prst="rect">
            <a:avLst/>
          </a:prstGeom>
        </p:spPr>
      </p:pic>
      <p:sp>
        <p:nvSpPr>
          <p:cNvPr id="14" name="Text 10"/>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How Oriental Horizon can use it</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600" i="1" dirty="0">
                <a:solidFill>
                  <a:srgbClr val="5E6369"/>
                </a:solidFill>
                <a:latin typeface="Calibri" pitchFamily="34" charset="0"/>
                <a:ea typeface="Calibri" pitchFamily="34" charset="-122"/>
                <a:cs typeface="Calibri" pitchFamily="34" charset="-120"/>
              </a:rPr>
              <a:t>From a class project to a weekly input for the pricing system</a:t>
            </a:r>
            <a:endParaRPr lang="en-US" sz="1600" dirty="0"/>
          </a:p>
        </p:txBody>
      </p:sp>
      <p:sp>
        <p:nvSpPr>
          <p:cNvPr id="4" name="Shape 2"/>
          <p:cNvSpPr/>
          <p:nvPr/>
        </p:nvSpPr>
        <p:spPr>
          <a:xfrm>
            <a:off x="548640" y="1783080"/>
            <a:ext cx="2103120" cy="3931920"/>
          </a:xfrm>
          <a:prstGeom prst="roundRect">
            <a:avLst>
              <a:gd name="adj" fmla="val 5217"/>
            </a:avLst>
          </a:prstGeom>
          <a:solidFill>
            <a:srgbClr val="F2F5F9"/>
          </a:solidFill>
          <a:ln w="12700">
            <a:solidFill>
              <a:srgbClr val="F2F5F9"/>
            </a:solidFill>
            <a:prstDash val="solid"/>
          </a:ln>
        </p:spPr>
      </p:sp>
      <p:sp>
        <p:nvSpPr>
          <p:cNvPr id="5" name="Shape 3"/>
          <p:cNvSpPr/>
          <p:nvPr/>
        </p:nvSpPr>
        <p:spPr>
          <a:xfrm>
            <a:off x="1325880" y="2011680"/>
            <a:ext cx="548640" cy="548640"/>
          </a:xfrm>
          <a:prstGeom prst="ellipse">
            <a:avLst/>
          </a:prstGeom>
          <a:solidFill>
            <a:srgbClr val="14213D"/>
          </a:solidFill>
          <a:ln w="12700">
            <a:solidFill>
              <a:srgbClr val="14213D"/>
            </a:solidFill>
            <a:prstDash val="solid"/>
          </a:ln>
        </p:spPr>
      </p:sp>
      <p:pic>
        <p:nvPicPr>
          <p:cNvPr id="6" name="Image 0" descr="preencoded.png">    </p:cNvPr>
          <p:cNvPicPr>
            <a:picLocks noChangeAspect="1"/>
          </p:cNvPicPr>
          <p:nvPr/>
        </p:nvPicPr>
        <p:blipFill>
          <a:blip r:embed="rId1"/>
          <a:stretch>
            <a:fillRect/>
          </a:stretch>
        </p:blipFill>
        <p:spPr>
          <a:xfrm>
            <a:off x="1446581" y="2132381"/>
            <a:ext cx="307238" cy="307238"/>
          </a:xfrm>
          <a:prstGeom prst="rect">
            <a:avLst/>
          </a:prstGeom>
        </p:spPr>
      </p:pic>
      <p:sp>
        <p:nvSpPr>
          <p:cNvPr id="7" name="Text 4"/>
          <p:cNvSpPr txBox="1"/>
          <p:nvPr/>
        </p:nvSpPr>
        <p:spPr>
          <a:xfrm>
            <a:off x="685800" y="2743200"/>
            <a:ext cx="1828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Collect weekly</a:t>
            </a:r>
            <a:endParaRPr lang="en-US" sz="1600" dirty="0"/>
          </a:p>
        </p:txBody>
      </p:sp>
      <p:sp>
        <p:nvSpPr>
          <p:cNvPr id="8" name="Text 5"/>
          <p:cNvSpPr txBox="1"/>
          <p:nvPr/>
        </p:nvSpPr>
        <p:spPr>
          <a:xfrm>
            <a:off x="685800" y="3474720"/>
            <a:ext cx="1828800" cy="2103120"/>
          </a:xfrm>
          <a:prstGeom prst="rect">
            <a:avLst/>
          </a:prstGeom>
          <a:noFill/>
          <a:ln/>
        </p:spPr>
        <p:txBody>
          <a:bodyPr wrap="square" lIns="0" tIns="0" rIns="0" bIns="0" rtlCol="0" anchor="t"/>
          <a:lstStyle/>
          <a:p>
            <a:pPr algn="ctr" indent="0" marL="0">
              <a:buNone/>
            </a:pPr>
            <a:r>
              <a:rPr lang="en-US" sz="1400" dirty="0">
                <a:solidFill>
                  <a:srgbClr val="1F2328"/>
                </a:solidFill>
                <a:latin typeface="Calibri" pitchFamily="34" charset="0"/>
                <a:ea typeface="Calibri" pitchFamily="34" charset="-122"/>
                <a:cs typeface="Calibri" pitchFamily="34" charset="-120"/>
              </a:rPr>
              <a:t>Reviews from booking channels for our hotel and 3–5 competitors</a:t>
            </a:r>
            <a:endParaRPr lang="en-US" sz="1400" dirty="0"/>
          </a:p>
        </p:txBody>
      </p:sp>
      <p:sp>
        <p:nvSpPr>
          <p:cNvPr id="9" name="Shape 6"/>
          <p:cNvSpPr/>
          <p:nvPr/>
        </p:nvSpPr>
        <p:spPr>
          <a:xfrm>
            <a:off x="2834640" y="1783080"/>
            <a:ext cx="2103120" cy="3931920"/>
          </a:xfrm>
          <a:prstGeom prst="roundRect">
            <a:avLst>
              <a:gd name="adj" fmla="val 5217"/>
            </a:avLst>
          </a:prstGeom>
          <a:solidFill>
            <a:srgbClr val="FCEFE7"/>
          </a:solidFill>
          <a:ln w="12700">
            <a:solidFill>
              <a:srgbClr val="FCEFE7"/>
            </a:solidFill>
            <a:prstDash val="solid"/>
          </a:ln>
        </p:spPr>
      </p:sp>
      <p:sp>
        <p:nvSpPr>
          <p:cNvPr id="10" name="Shape 7"/>
          <p:cNvSpPr/>
          <p:nvPr/>
        </p:nvSpPr>
        <p:spPr>
          <a:xfrm>
            <a:off x="3611880" y="2011680"/>
            <a:ext cx="548640" cy="548640"/>
          </a:xfrm>
          <a:prstGeom prst="ellipse">
            <a:avLst/>
          </a:prstGeom>
          <a:solidFill>
            <a:srgbClr val="E36414"/>
          </a:solidFill>
          <a:ln w="12700">
            <a:solidFill>
              <a:srgbClr val="E36414"/>
            </a:solidFill>
            <a:prstDash val="solid"/>
          </a:ln>
        </p:spPr>
      </p:sp>
      <p:pic>
        <p:nvPicPr>
          <p:cNvPr id="11" name="Image 1" descr="preencoded.png">    </p:cNvPr>
          <p:cNvPicPr>
            <a:picLocks noChangeAspect="1"/>
          </p:cNvPicPr>
          <p:nvPr/>
        </p:nvPicPr>
        <p:blipFill>
          <a:blip r:embed="rId2"/>
          <a:stretch>
            <a:fillRect/>
          </a:stretch>
        </p:blipFill>
        <p:spPr>
          <a:xfrm>
            <a:off x="3732581" y="2132381"/>
            <a:ext cx="307238" cy="307238"/>
          </a:xfrm>
          <a:prstGeom prst="rect">
            <a:avLst/>
          </a:prstGeom>
        </p:spPr>
      </p:pic>
      <p:sp>
        <p:nvSpPr>
          <p:cNvPr id="12" name="Text 8"/>
          <p:cNvSpPr txBox="1"/>
          <p:nvPr/>
        </p:nvSpPr>
        <p:spPr>
          <a:xfrm>
            <a:off x="2971800" y="2743200"/>
            <a:ext cx="1828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Feed the RMS</a:t>
            </a:r>
            <a:endParaRPr lang="en-US" sz="1600" dirty="0"/>
          </a:p>
        </p:txBody>
      </p:sp>
      <p:sp>
        <p:nvSpPr>
          <p:cNvPr id="13" name="Text 9"/>
          <p:cNvSpPr txBox="1"/>
          <p:nvPr/>
        </p:nvSpPr>
        <p:spPr>
          <a:xfrm>
            <a:off x="2971800" y="3474720"/>
            <a:ext cx="1828800" cy="2103120"/>
          </a:xfrm>
          <a:prstGeom prst="rect">
            <a:avLst/>
          </a:prstGeom>
          <a:noFill/>
          <a:ln/>
        </p:spPr>
        <p:txBody>
          <a:bodyPr wrap="square" lIns="0" tIns="0" rIns="0" bIns="0" rtlCol="0" anchor="t"/>
          <a:lstStyle/>
          <a:p>
            <a:pPr algn="ctr" indent="0" marL="0">
              <a:buNone/>
            </a:pPr>
            <a:r>
              <a:rPr lang="en-US" sz="1400" dirty="0">
                <a:solidFill>
                  <a:srgbClr val="1F2328"/>
                </a:solidFill>
                <a:latin typeface="Calibri" pitchFamily="34" charset="0"/>
                <a:ea typeface="Calibri" pitchFamily="34" charset="-122"/>
                <a:cs typeface="Calibri" pitchFamily="34" charset="-120"/>
              </a:rPr>
              <a:t>Reputation index vs. competitors + business/leisure mix by day of week</a:t>
            </a:r>
            <a:endParaRPr lang="en-US" sz="1400" dirty="0"/>
          </a:p>
        </p:txBody>
      </p:sp>
      <p:sp>
        <p:nvSpPr>
          <p:cNvPr id="14" name="Shape 10"/>
          <p:cNvSpPr/>
          <p:nvPr/>
        </p:nvSpPr>
        <p:spPr>
          <a:xfrm>
            <a:off x="5120640" y="1783080"/>
            <a:ext cx="2103120" cy="3931920"/>
          </a:xfrm>
          <a:prstGeom prst="roundRect">
            <a:avLst>
              <a:gd name="adj" fmla="val 5217"/>
            </a:avLst>
          </a:prstGeom>
          <a:solidFill>
            <a:srgbClr val="F2F5F9"/>
          </a:solidFill>
          <a:ln w="12700">
            <a:solidFill>
              <a:srgbClr val="F2F5F9"/>
            </a:solidFill>
            <a:prstDash val="solid"/>
          </a:ln>
        </p:spPr>
      </p:sp>
      <p:sp>
        <p:nvSpPr>
          <p:cNvPr id="15" name="Shape 11"/>
          <p:cNvSpPr/>
          <p:nvPr/>
        </p:nvSpPr>
        <p:spPr>
          <a:xfrm>
            <a:off x="5897880" y="2011680"/>
            <a:ext cx="548640" cy="548640"/>
          </a:xfrm>
          <a:prstGeom prst="ellipse">
            <a:avLst/>
          </a:prstGeom>
          <a:solidFill>
            <a:srgbClr val="14213D"/>
          </a:solidFill>
          <a:ln w="12700">
            <a:solidFill>
              <a:srgbClr val="14213D"/>
            </a:solidFill>
            <a:prstDash val="solid"/>
          </a:ln>
        </p:spPr>
      </p:sp>
      <p:pic>
        <p:nvPicPr>
          <p:cNvPr id="16" name="Image 2" descr="preencoded.png">    </p:cNvPr>
          <p:cNvPicPr>
            <a:picLocks noChangeAspect="1"/>
          </p:cNvPicPr>
          <p:nvPr/>
        </p:nvPicPr>
        <p:blipFill>
          <a:blip r:embed="rId3"/>
          <a:stretch>
            <a:fillRect/>
          </a:stretch>
        </p:blipFill>
        <p:spPr>
          <a:xfrm>
            <a:off x="6018581" y="2132381"/>
            <a:ext cx="307238" cy="307238"/>
          </a:xfrm>
          <a:prstGeom prst="rect">
            <a:avLst/>
          </a:prstGeom>
        </p:spPr>
      </p:pic>
      <p:sp>
        <p:nvSpPr>
          <p:cNvPr id="17" name="Text 12"/>
          <p:cNvSpPr txBox="1"/>
          <p:nvPr/>
        </p:nvSpPr>
        <p:spPr>
          <a:xfrm>
            <a:off x="5257800" y="2743200"/>
            <a:ext cx="1828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Keep humans in control</a:t>
            </a:r>
            <a:endParaRPr lang="en-US" sz="1600" dirty="0"/>
          </a:p>
        </p:txBody>
      </p:sp>
      <p:sp>
        <p:nvSpPr>
          <p:cNvPr id="18" name="Text 13"/>
          <p:cNvSpPr txBox="1"/>
          <p:nvPr/>
        </p:nvSpPr>
        <p:spPr>
          <a:xfrm>
            <a:off x="5257800" y="3474720"/>
            <a:ext cx="1828800" cy="2103120"/>
          </a:xfrm>
          <a:prstGeom prst="rect">
            <a:avLst/>
          </a:prstGeom>
          <a:noFill/>
          <a:ln/>
        </p:spPr>
        <p:txBody>
          <a:bodyPr wrap="square" lIns="0" tIns="0" rIns="0" bIns="0" rtlCol="0" anchor="t"/>
          <a:lstStyle/>
          <a:p>
            <a:pPr algn="ctr" indent="0" marL="0">
              <a:buNone/>
            </a:pPr>
            <a:r>
              <a:rPr lang="en-US" sz="1400" dirty="0">
                <a:solidFill>
                  <a:srgbClr val="1F2328"/>
                </a:solidFill>
                <a:latin typeface="Calibri" pitchFamily="34" charset="0"/>
                <a:ea typeface="Calibri" pitchFamily="34" charset="-122"/>
                <a:cs typeface="Calibri" pitchFamily="34" charset="-120"/>
              </a:rPr>
              <a:t>Revenue manager approves changes within the agreed ±5% cap</a:t>
            </a:r>
            <a:endParaRPr lang="en-US" sz="1400" dirty="0"/>
          </a:p>
        </p:txBody>
      </p:sp>
      <p:sp>
        <p:nvSpPr>
          <p:cNvPr id="19" name="Shape 14"/>
          <p:cNvSpPr/>
          <p:nvPr/>
        </p:nvSpPr>
        <p:spPr>
          <a:xfrm>
            <a:off x="7406640" y="1783080"/>
            <a:ext cx="2103120" cy="3931920"/>
          </a:xfrm>
          <a:prstGeom prst="roundRect">
            <a:avLst>
              <a:gd name="adj" fmla="val 5217"/>
            </a:avLst>
          </a:prstGeom>
          <a:solidFill>
            <a:srgbClr val="FCEFE7"/>
          </a:solidFill>
          <a:ln w="12700">
            <a:solidFill>
              <a:srgbClr val="FCEFE7"/>
            </a:solidFill>
            <a:prstDash val="solid"/>
          </a:ln>
        </p:spPr>
      </p:sp>
      <p:sp>
        <p:nvSpPr>
          <p:cNvPr id="20" name="Shape 15"/>
          <p:cNvSpPr/>
          <p:nvPr/>
        </p:nvSpPr>
        <p:spPr>
          <a:xfrm>
            <a:off x="8183880" y="2011680"/>
            <a:ext cx="548640" cy="548640"/>
          </a:xfrm>
          <a:prstGeom prst="ellipse">
            <a:avLst/>
          </a:prstGeom>
          <a:solidFill>
            <a:srgbClr val="E36414"/>
          </a:solidFill>
          <a:ln w="12700">
            <a:solidFill>
              <a:srgbClr val="E36414"/>
            </a:solidFill>
            <a:prstDash val="solid"/>
          </a:ln>
        </p:spPr>
      </p:sp>
      <p:pic>
        <p:nvPicPr>
          <p:cNvPr id="21" name="Image 3" descr="preencoded.png">    </p:cNvPr>
          <p:cNvPicPr>
            <a:picLocks noChangeAspect="1"/>
          </p:cNvPicPr>
          <p:nvPr/>
        </p:nvPicPr>
        <p:blipFill>
          <a:blip r:embed="rId4"/>
          <a:stretch>
            <a:fillRect/>
          </a:stretch>
        </p:blipFill>
        <p:spPr>
          <a:xfrm>
            <a:off x="8304581" y="2132381"/>
            <a:ext cx="307238" cy="307238"/>
          </a:xfrm>
          <a:prstGeom prst="rect">
            <a:avLst/>
          </a:prstGeom>
        </p:spPr>
      </p:pic>
      <p:sp>
        <p:nvSpPr>
          <p:cNvPr id="22" name="Text 16"/>
          <p:cNvSpPr txBox="1"/>
          <p:nvPr/>
        </p:nvSpPr>
        <p:spPr>
          <a:xfrm>
            <a:off x="7543800" y="2743200"/>
            <a:ext cx="1828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Retrain on our data</a:t>
            </a:r>
            <a:endParaRPr lang="en-US" sz="1600" dirty="0"/>
          </a:p>
        </p:txBody>
      </p:sp>
      <p:sp>
        <p:nvSpPr>
          <p:cNvPr id="23" name="Text 17"/>
          <p:cNvSpPr txBox="1"/>
          <p:nvPr/>
        </p:nvSpPr>
        <p:spPr>
          <a:xfrm>
            <a:off x="7543800" y="3474720"/>
            <a:ext cx="1828800" cy="2103120"/>
          </a:xfrm>
          <a:prstGeom prst="rect">
            <a:avLst/>
          </a:prstGeom>
          <a:noFill/>
          <a:ln/>
        </p:spPr>
        <p:txBody>
          <a:bodyPr wrap="square" lIns="0" tIns="0" rIns="0" bIns="0" rtlCol="0" anchor="t"/>
          <a:lstStyle/>
          <a:p>
            <a:pPr algn="ctr" indent="0" marL="0">
              <a:buNone/>
            </a:pPr>
            <a:r>
              <a:rPr lang="en-US" sz="1400" dirty="0">
                <a:solidFill>
                  <a:srgbClr val="1F2328"/>
                </a:solidFill>
                <a:latin typeface="Calibri" pitchFamily="34" charset="0"/>
                <a:ea typeface="Calibri" pitchFamily="34" charset="-122"/>
                <a:cs typeface="Calibri" pitchFamily="34" charset="-120"/>
              </a:rPr>
              <a:t>Label our own (often Chinese) reviews; fine-tune a multilingual model</a:t>
            </a:r>
            <a:endParaRPr lang="en-US" sz="1400" dirty="0"/>
          </a:p>
        </p:txBody>
      </p:sp>
      <p:sp>
        <p:nvSpPr>
          <p:cNvPr id="24" name="Shape 18"/>
          <p:cNvSpPr/>
          <p:nvPr/>
        </p:nvSpPr>
        <p:spPr>
          <a:xfrm>
            <a:off x="9692640" y="1783080"/>
            <a:ext cx="2103120" cy="3931920"/>
          </a:xfrm>
          <a:prstGeom prst="roundRect">
            <a:avLst>
              <a:gd name="adj" fmla="val 5217"/>
            </a:avLst>
          </a:prstGeom>
          <a:solidFill>
            <a:srgbClr val="F2F5F9"/>
          </a:solidFill>
          <a:ln w="12700">
            <a:solidFill>
              <a:srgbClr val="F2F5F9"/>
            </a:solidFill>
            <a:prstDash val="solid"/>
          </a:ln>
        </p:spPr>
      </p:sp>
      <p:sp>
        <p:nvSpPr>
          <p:cNvPr id="25" name="Shape 19"/>
          <p:cNvSpPr/>
          <p:nvPr/>
        </p:nvSpPr>
        <p:spPr>
          <a:xfrm>
            <a:off x="10469880" y="2011680"/>
            <a:ext cx="548640" cy="548640"/>
          </a:xfrm>
          <a:prstGeom prst="ellipse">
            <a:avLst/>
          </a:prstGeom>
          <a:solidFill>
            <a:srgbClr val="14213D"/>
          </a:solidFill>
          <a:ln w="12700">
            <a:solidFill>
              <a:srgbClr val="14213D"/>
            </a:solidFill>
            <a:prstDash val="solid"/>
          </a:ln>
        </p:spPr>
      </p:sp>
      <p:pic>
        <p:nvPicPr>
          <p:cNvPr id="26" name="Image 4" descr="preencoded.png">    </p:cNvPr>
          <p:cNvPicPr>
            <a:picLocks noChangeAspect="1"/>
          </p:cNvPicPr>
          <p:nvPr/>
        </p:nvPicPr>
        <p:blipFill>
          <a:blip r:embed="rId5"/>
          <a:stretch>
            <a:fillRect/>
          </a:stretch>
        </p:blipFill>
        <p:spPr>
          <a:xfrm>
            <a:off x="10590581" y="2132381"/>
            <a:ext cx="307238" cy="307238"/>
          </a:xfrm>
          <a:prstGeom prst="rect">
            <a:avLst/>
          </a:prstGeom>
        </p:spPr>
      </p:pic>
      <p:sp>
        <p:nvSpPr>
          <p:cNvPr id="27" name="Text 20"/>
          <p:cNvSpPr txBox="1"/>
          <p:nvPr/>
        </p:nvSpPr>
        <p:spPr>
          <a:xfrm>
            <a:off x="9829800" y="2743200"/>
            <a:ext cx="1828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ambria" pitchFamily="34" charset="0"/>
                <a:ea typeface="Cambria" pitchFamily="34" charset="-122"/>
                <a:cs typeface="Cambria" pitchFamily="34" charset="-120"/>
              </a:rPr>
              <a:t>Monitor</a:t>
            </a:r>
            <a:endParaRPr lang="en-US" sz="1600" dirty="0"/>
          </a:p>
        </p:txBody>
      </p:sp>
      <p:sp>
        <p:nvSpPr>
          <p:cNvPr id="28" name="Text 21"/>
          <p:cNvSpPr txBox="1"/>
          <p:nvPr/>
        </p:nvSpPr>
        <p:spPr>
          <a:xfrm>
            <a:off x="9829800" y="3474720"/>
            <a:ext cx="1828800" cy="2103120"/>
          </a:xfrm>
          <a:prstGeom prst="rect">
            <a:avLst/>
          </a:prstGeom>
          <a:noFill/>
          <a:ln/>
        </p:spPr>
        <p:txBody>
          <a:bodyPr wrap="square" lIns="0" tIns="0" rIns="0" bIns="0" rtlCol="0" anchor="t"/>
          <a:lstStyle/>
          <a:p>
            <a:pPr algn="ctr" indent="0" marL="0">
              <a:buNone/>
            </a:pPr>
            <a:r>
              <a:rPr lang="en-US" sz="1400" dirty="0">
                <a:solidFill>
                  <a:srgbClr val="1F2328"/>
                </a:solidFill>
                <a:latin typeface="Calibri" pitchFamily="34" charset="0"/>
                <a:ea typeface="Calibri" pitchFamily="34" charset="-122"/>
                <a:cs typeface="Calibri" pitchFamily="34" charset="-120"/>
              </a:rPr>
              <a:t>Quarterly accuracy check; compare suggestions with RevPAR</a:t>
            </a:r>
            <a:endParaRPr lang="en-US" sz="1400" dirty="0"/>
          </a:p>
        </p:txBody>
      </p:sp>
      <p:sp>
        <p:nvSpPr>
          <p:cNvPr id="29" name="Text 22"/>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i="1" dirty="0">
                <a:solidFill>
                  <a:srgbClr val="5E6369"/>
                </a:solidFill>
                <a:latin typeface="Calibri" pitchFamily="34" charset="0"/>
                <a:ea typeface="Calibri" pitchFamily="34" charset="-122"/>
                <a:cs typeface="Calibri" pitchFamily="34" charset="-120"/>
              </a:rPr>
              <a:t>Limitation: trained on English reviews of European hotels, with labels taken from scores and tags, so some labels are noisy.</a:t>
            </a:r>
            <a:endParaRPr lang="en-US" sz="1300" dirty="0"/>
          </a:p>
        </p:txBody>
      </p:sp>
      <p:sp>
        <p:nvSpPr>
          <p:cNvPr id="30" name="Text 23"/>
          <p:cNvSpPr txBox="1"/>
          <p:nvPr/>
        </p:nvSpPr>
        <p:spPr>
          <a:xfrm>
            <a:off x="11384280" y="6400800"/>
            <a:ext cx="457200" cy="274320"/>
          </a:xfrm>
          <a:prstGeom prst="rect">
            <a:avLst/>
          </a:prstGeom>
          <a:noFill/>
          <a:ln/>
        </p:spPr>
        <p:txBody>
          <a:bodyPr wrap="square" lIns="0" tIns="0" rIns="0" bIns="0" rtlCol="0" anchor="ctr"/>
          <a:lstStyle/>
          <a:p>
            <a:pPr algn="r" indent="0" marL="0">
              <a:buNone/>
            </a:pPr>
            <a:r>
              <a:rPr lang="en-US" sz="1000" dirty="0">
                <a:solidFill>
                  <a:srgbClr val="9B9A9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412480" y="4206240"/>
            <a:ext cx="5943600" cy="5943600"/>
          </a:xfrm>
          <a:prstGeom prst="ellipse">
            <a:avLst/>
          </a:prstGeom>
          <a:solidFill>
            <a:srgbClr val="E36414">
              <a:alpha val="85000"/>
            </a:srgbClr>
          </a:solidFill>
          <a:ln w="12700">
            <a:solidFill>
              <a:srgbClr val="E36414">
                <a:alpha val="85000"/>
              </a:srgbClr>
            </a:solidFill>
            <a:prstDash val="solid"/>
          </a:ln>
        </p:spPr>
      </p:sp>
      <p:sp>
        <p:nvSpPr>
          <p:cNvPr id="3" name="Text 1"/>
          <p:cNvSpPr txBox="1"/>
          <p:nvPr/>
        </p:nvSpPr>
        <p:spPr>
          <a:xfrm>
            <a:off x="640080" y="54864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4" name="Text 2"/>
          <p:cNvSpPr txBox="1"/>
          <p:nvPr/>
        </p:nvSpPr>
        <p:spPr>
          <a:xfrm>
            <a:off x="640080" y="1600200"/>
            <a:ext cx="2743200" cy="822960"/>
          </a:xfrm>
          <a:prstGeom prst="rect">
            <a:avLst/>
          </a:prstGeom>
          <a:noFill/>
          <a:ln/>
        </p:spPr>
        <p:txBody>
          <a:bodyPr wrap="square" lIns="0" tIns="0" rIns="0" bIns="0" rtlCol="0" anchor="ctr"/>
          <a:lstStyle/>
          <a:p>
            <a:pPr indent="0" marL="0">
              <a:buNone/>
            </a:pPr>
            <a:r>
              <a:rPr lang="en-US" sz="3600" b="1" dirty="0">
                <a:solidFill>
                  <a:srgbClr val="E36414"/>
                </a:solidFill>
                <a:latin typeface="Cambria" pitchFamily="34" charset="0"/>
                <a:ea typeface="Cambria" pitchFamily="34" charset="-122"/>
                <a:cs typeface="Cambria" pitchFamily="34" charset="-120"/>
              </a:rPr>
              <a:t>75%</a:t>
            </a:r>
            <a:endParaRPr lang="en-US" sz="3600" dirty="0"/>
          </a:p>
        </p:txBody>
      </p:sp>
      <p:sp>
        <p:nvSpPr>
          <p:cNvPr id="5" name="Text 3"/>
          <p:cNvSpPr txBox="1"/>
          <p:nvPr/>
        </p:nvSpPr>
        <p:spPr>
          <a:xfrm>
            <a:off x="3474720" y="1600200"/>
            <a:ext cx="5486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sentiment accuracy, with positive and negative almost never confused (1.4%)</a:t>
            </a:r>
            <a:endParaRPr lang="en-US" sz="1700" dirty="0"/>
          </a:p>
        </p:txBody>
      </p:sp>
      <p:sp>
        <p:nvSpPr>
          <p:cNvPr id="6" name="Text 4"/>
          <p:cNvSpPr txBox="1"/>
          <p:nvPr/>
        </p:nvSpPr>
        <p:spPr>
          <a:xfrm>
            <a:off x="640080" y="2788920"/>
            <a:ext cx="2743200" cy="822960"/>
          </a:xfrm>
          <a:prstGeom prst="rect">
            <a:avLst/>
          </a:prstGeom>
          <a:noFill/>
          <a:ln/>
        </p:spPr>
        <p:txBody>
          <a:bodyPr wrap="square" lIns="0" tIns="0" rIns="0" bIns="0" rtlCol="0" anchor="ctr"/>
          <a:lstStyle/>
          <a:p>
            <a:pPr indent="0" marL="0">
              <a:buNone/>
            </a:pPr>
            <a:r>
              <a:rPr lang="en-US" sz="3600" b="1" dirty="0">
                <a:solidFill>
                  <a:srgbClr val="E36414"/>
                </a:solidFill>
                <a:latin typeface="Cambria" pitchFamily="34" charset="0"/>
                <a:ea typeface="Cambria" pitchFamily="34" charset="-122"/>
                <a:cs typeface="Cambria" pitchFamily="34" charset="-120"/>
              </a:rPr>
              <a:t>72%</a:t>
            </a:r>
            <a:endParaRPr lang="en-US" sz="3600" dirty="0"/>
          </a:p>
        </p:txBody>
      </p:sp>
      <p:sp>
        <p:nvSpPr>
          <p:cNvPr id="7" name="Text 5"/>
          <p:cNvSpPr txBox="1"/>
          <p:nvPr/>
        </p:nvSpPr>
        <p:spPr>
          <a:xfrm>
            <a:off x="3474720" y="2788920"/>
            <a:ext cx="5486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business vs. leisure accuracy, good enough to estimate the segment mix</a:t>
            </a:r>
            <a:endParaRPr lang="en-US" sz="1700" dirty="0"/>
          </a:p>
        </p:txBody>
      </p:sp>
      <p:sp>
        <p:nvSpPr>
          <p:cNvPr id="8" name="Text 6"/>
          <p:cNvSpPr txBox="1"/>
          <p:nvPr/>
        </p:nvSpPr>
        <p:spPr>
          <a:xfrm>
            <a:off x="640080" y="3977640"/>
            <a:ext cx="2743200" cy="822960"/>
          </a:xfrm>
          <a:prstGeom prst="rect">
            <a:avLst/>
          </a:prstGeom>
          <a:noFill/>
          <a:ln/>
        </p:spPr>
        <p:txBody>
          <a:bodyPr wrap="square" lIns="0" tIns="0" rIns="0" bIns="0" rtlCol="0" anchor="ctr"/>
          <a:lstStyle/>
          <a:p>
            <a:pPr indent="0" marL="0">
              <a:buNone/>
            </a:pPr>
            <a:r>
              <a:rPr lang="en-US" sz="3600" b="1" dirty="0">
                <a:solidFill>
                  <a:srgbClr val="E36414"/>
                </a:solidFill>
                <a:latin typeface="Cambria" pitchFamily="34" charset="0"/>
                <a:ea typeface="Cambria" pitchFamily="34" charset="-122"/>
                <a:cs typeface="Cambria" pitchFamily="34" charset="-120"/>
              </a:rPr>
              <a:t>+12 / +17</a:t>
            </a:r>
            <a:endParaRPr lang="en-US" sz="3600" dirty="0"/>
          </a:p>
        </p:txBody>
      </p:sp>
      <p:sp>
        <p:nvSpPr>
          <p:cNvPr id="9" name="Text 7"/>
          <p:cNvSpPr txBox="1"/>
          <p:nvPr/>
        </p:nvSpPr>
        <p:spPr>
          <a:xfrm>
            <a:off x="3474720" y="3977640"/>
            <a:ext cx="5486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accuracy points from fine-tuning vs. ready-made models, at a fraction of the runtime</a:t>
            </a:r>
            <a:endParaRPr lang="en-US" sz="1700" dirty="0"/>
          </a:p>
        </p:txBody>
      </p:sp>
      <p:sp>
        <p:nvSpPr>
          <p:cNvPr id="10" name="Text 8"/>
          <p:cNvSpPr txBox="1"/>
          <p:nvPr/>
        </p:nvSpPr>
        <p:spPr>
          <a:xfrm>
            <a:off x="640080" y="5257800"/>
            <a:ext cx="8229600" cy="1188720"/>
          </a:xfrm>
          <a:prstGeom prst="rect">
            <a:avLst/>
          </a:prstGeom>
          <a:noFill/>
          <a:ln/>
        </p:spPr>
        <p:txBody>
          <a:bodyPr wrap="square" lIns="0" tIns="0" rIns="0" bIns="0" rtlCol="0" anchor="ctr"/>
          <a:lstStyle/>
          <a:p>
            <a:pPr indent="0" marL="0">
              <a:buNone/>
            </a:pPr>
            <a:r>
              <a:rPr lang="en-US" sz="1500" b="1" dirty="0">
                <a:solidFill>
                  <a:srgbClr val="C9D3E3"/>
                </a:solidFill>
                <a:latin typeface="Calibri" pitchFamily="34" charset="0"/>
                <a:ea typeface="Calibri" pitchFamily="34" charset="-122"/>
                <a:cs typeface="Calibri" pitchFamily="34" charset="-120"/>
              </a:rPr>
              <a:t>App: </a:t>
            </a:r>
            <a:pPr indent="0" marL="0">
              <a:buNone/>
            </a:pPr>
            <a:r>
              <a:rPr lang="en-US" sz="1500" dirty="0">
                <a:solidFill>
                  <a:srgbClr val="C9D3E3"/>
                </a:solidFill>
                <a:latin typeface="Calibri" pitchFamily="34" charset="0"/>
                <a:ea typeface="Calibri" pitchFamily="34" charset="-122"/>
                <a:cs typeface="Calibri" pitchFamily="34" charset="-120"/>
              </a:rPr>
              <a:t>oriental-horizon-review.streamlit.app</a:t>
            </a:r>
            <a:endParaRPr lang="en-US" sz="1500" dirty="0"/>
          </a:p>
          <a:p>
            <a:pPr indent="0" marL="0">
              <a:buNone/>
            </a:pPr>
            <a:r>
              <a:rPr lang="en-US" sz="1500" b="1" dirty="0">
                <a:solidFill>
                  <a:srgbClr val="C9D3E3"/>
                </a:solidFill>
                <a:latin typeface="Calibri" pitchFamily="34" charset="0"/>
                <a:ea typeface="Calibri" pitchFamily="34" charset="-122"/>
                <a:cs typeface="Calibri" pitchFamily="34" charset="-120"/>
              </a:rPr>
              <a:t>Models: </a:t>
            </a:r>
            <a:pPr indent="0" marL="0">
              <a:buNone/>
            </a:pPr>
            <a:r>
              <a:rPr lang="en-US" sz="1500" dirty="0">
                <a:solidFill>
                  <a:srgbClr val="C9D3E3"/>
                </a:solidFill>
                <a:latin typeface="Calibri" pitchFamily="34" charset="0"/>
                <a:ea typeface="Calibri" pitchFamily="34" charset="-122"/>
                <a:cs typeface="Calibri" pitchFamily="34" charset="-120"/>
              </a:rPr>
              <a:t>huggingface.co/ludanzhang54/oh-review-sentiment · oh-guest-segment</a:t>
            </a:r>
            <a:endParaRPr lang="en-US" sz="1500" dirty="0"/>
          </a:p>
          <a:p>
            <a:pPr indent="0" marL="0">
              <a:buNone/>
            </a:pPr>
            <a:r>
              <a:rPr lang="en-US" sz="1500" b="1" dirty="0">
                <a:solidFill>
                  <a:srgbClr val="E36414"/>
                </a:solidFill>
                <a:latin typeface="Calibri" pitchFamily="34" charset="0"/>
                <a:ea typeface="Calibri" pitchFamily="34" charset="-122"/>
                <a:cs typeface="Calibri"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Intelligence for Hotel Revenue Management</dc:title>
  <dc:subject>PptxGenJS Presentation</dc:subject>
  <dc:creator>PptxGenJS</dc:creator>
  <cp:lastModifiedBy>PptxGenJS</cp:lastModifiedBy>
  <cp:revision>1</cp:revision>
  <dcterms:created xsi:type="dcterms:W3CDTF">2026-10-01T11:50:33Z</dcterms:created>
  <dcterms:modified xsi:type="dcterms:W3CDTF">2026-10-01T11:50:33Z</dcterms:modified>
</cp:coreProperties>
</file>